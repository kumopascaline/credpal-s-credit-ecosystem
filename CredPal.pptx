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Override PartName="/ppt/changesInfos/changesInfo1.xml" ContentType="application/vnd.ms-powerpoint.changes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78" r:id="rId3"/>
    <p:sldId id="257" r:id="rId4"/>
    <p:sldId id="258" r:id="rId5"/>
    <p:sldId id="259" r:id="rId6"/>
    <p:sldId id="260" r:id="rId7"/>
    <p:sldId id="275" r:id="rId8"/>
    <p:sldId id="261" r:id="rId9"/>
    <p:sldId id="262" r:id="rId10"/>
    <p:sldId id="263" r:id="rId11"/>
    <p:sldId id="276" r:id="rId12"/>
    <p:sldId id="279" r:id="rId13"/>
    <p:sldId id="281" r:id="rId14"/>
    <p:sldId id="282" r:id="rId15"/>
    <p:sldId id="283" r:id="rId16"/>
    <p:sldId id="277" r:id="rId17"/>
    <p:sldId id="268" r:id="rId18"/>
    <p:sldId id="269" r:id="rId19"/>
    <p:sldId id="270" r:id="rId20"/>
    <p:sldId id="271"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xmlns=""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E719690-BB1E-2A71-0AA8-58C9D837565B}" v="2" dt="2025-11-03T12:27:57.51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458" autoAdjust="0"/>
    <p:restoredTop sz="94660"/>
  </p:normalViewPr>
  <p:slideViewPr>
    <p:cSldViewPr snapToGrid="0">
      <p:cViewPr varScale="1">
        <p:scale>
          <a:sx n="96" d="100"/>
          <a:sy n="96" d="100"/>
        </p:scale>
        <p:origin x="-110" y="-17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28"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oveth Adams" userId="25459fb3448952de" providerId="Windows Live" clId="Web-{3E719690-BB1E-2A71-0AA8-58C9D837565B}"/>
    <pc:docChg chg="modSld">
      <pc:chgData name="Loveth Adams" userId="25459fb3448952de" providerId="Windows Live" clId="Web-{3E719690-BB1E-2A71-0AA8-58C9D837565B}" dt="2025-11-03T12:27:57.512" v="1" actId="1076"/>
      <pc:docMkLst>
        <pc:docMk/>
      </pc:docMkLst>
      <pc:sldChg chg="modSp">
        <pc:chgData name="Loveth Adams" userId="25459fb3448952de" providerId="Windows Live" clId="Web-{3E719690-BB1E-2A71-0AA8-58C9D837565B}" dt="2025-11-03T12:27:57.512" v="1" actId="1076"/>
        <pc:sldMkLst>
          <pc:docMk/>
          <pc:sldMk cId="95992585" sldId="258"/>
        </pc:sldMkLst>
        <pc:picChg chg="mod">
          <ac:chgData name="Loveth Adams" userId="25459fb3448952de" providerId="Windows Live" clId="Web-{3E719690-BB1E-2A71-0AA8-58C9D837565B}" dt="2025-11-03T12:27:57.512" v="1" actId="1076"/>
          <ac:picMkLst>
            <pc:docMk/>
            <pc:sldMk cId="95992585" sldId="258"/>
            <ac:picMk id="3" creationId="{F3E0451A-ED66-4B14-8FFC-0E4294695912}"/>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2"/>
      </p:bgRef>
    </p:bg>
    <p:spTree>
      <p:nvGrpSpPr>
        <p:cNvPr id="1" name=""/>
        <p:cNvGrpSpPr/>
        <p:nvPr/>
      </p:nvGrpSpPr>
      <p:grpSpPr>
        <a:xfrm>
          <a:off x="0" y="0"/>
          <a:ext cx="0" cy="0"/>
          <a:chOff x="0" y="0"/>
          <a:chExt cx="0" cy="0"/>
        </a:xfrm>
      </p:grpSpPr>
      <p:sp>
        <p:nvSpPr>
          <p:cNvPr id="7" name="Rectangle 6"/>
          <p:cNvSpPr/>
          <p:nvPr/>
        </p:nvSpPr>
        <p:spPr bwMode="white">
          <a:xfrm>
            <a:off x="0" y="5971032"/>
            <a:ext cx="12192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12192" y="6053328"/>
            <a:ext cx="2999232"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a:off x="3145536" y="6044184"/>
            <a:ext cx="9046464"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3149600" y="4038600"/>
            <a:ext cx="8636000" cy="1828800"/>
          </a:xfrm>
        </p:spPr>
        <p:txBody>
          <a:bodyPr anchor="b"/>
          <a:lstStyle>
            <a:lvl1pPr>
              <a:defRPr cap="all" baseline="0"/>
            </a:lvl1pPr>
          </a:lstStyle>
          <a:p>
            <a:r>
              <a:rPr kumimoji="0" lang="en-US"/>
              <a:t>Click to edit Master title style</a:t>
            </a:r>
          </a:p>
        </p:txBody>
      </p:sp>
      <p:sp>
        <p:nvSpPr>
          <p:cNvPr id="9" name="Subtitle 8"/>
          <p:cNvSpPr>
            <a:spLocks noGrp="1"/>
          </p:cNvSpPr>
          <p:nvPr>
            <p:ph type="subTitle" idx="1"/>
          </p:nvPr>
        </p:nvSpPr>
        <p:spPr>
          <a:xfrm>
            <a:off x="3149600" y="6050037"/>
            <a:ext cx="8940800" cy="685800"/>
          </a:xfrm>
        </p:spPr>
        <p:txBody>
          <a:bodyPr anchor="ctr">
            <a:normAutofit/>
          </a:bodyPr>
          <a:lstStyle>
            <a:lvl1pPr marL="0" indent="0" algn="l">
              <a:buNone/>
              <a:defRPr sz="2600">
                <a:solidFill>
                  <a:srgbClr val="FFFFFF"/>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a:xfrm>
            <a:off x="101600" y="6068699"/>
            <a:ext cx="2743200" cy="685800"/>
          </a:xfrm>
        </p:spPr>
        <p:txBody>
          <a:bodyPr>
            <a:noAutofit/>
          </a:bodyPr>
          <a:lstStyle>
            <a:lvl1pPr algn="ctr">
              <a:defRPr sz="2000">
                <a:solidFill>
                  <a:srgbClr val="FFFFFF"/>
                </a:solidFill>
              </a:defRPr>
            </a:lvl1pPr>
          </a:lstStyle>
          <a:p>
            <a:fld id="{EED1C14C-A143-42F5-B247-D0E800131009}" type="datetimeFigureOut">
              <a:rPr lang="en-US" smtClean="0"/>
              <a:t>2/8/2026</a:t>
            </a:fld>
            <a:endParaRPr lang="en-US"/>
          </a:p>
        </p:txBody>
      </p:sp>
      <p:sp>
        <p:nvSpPr>
          <p:cNvPr id="17" name="Footer Placeholder 16"/>
          <p:cNvSpPr>
            <a:spLocks noGrp="1"/>
          </p:cNvSpPr>
          <p:nvPr>
            <p:ph type="ftr" sz="quarter" idx="11"/>
          </p:nvPr>
        </p:nvSpPr>
        <p:spPr>
          <a:xfrm>
            <a:off x="2780524" y="236539"/>
            <a:ext cx="7823200" cy="365125"/>
          </a:xfrm>
        </p:spPr>
        <p:txBody>
          <a:bodyPr/>
          <a:lstStyle>
            <a:lvl1pPr algn="r">
              <a:defRPr>
                <a:solidFill>
                  <a:schemeClr val="tx2"/>
                </a:solidFill>
              </a:defRPr>
            </a:lvl1pPr>
          </a:lstStyle>
          <a:p>
            <a:endParaRPr lang="en-US"/>
          </a:p>
        </p:txBody>
      </p:sp>
      <p:sp>
        <p:nvSpPr>
          <p:cNvPr id="29" name="Slide Number Placeholder 28"/>
          <p:cNvSpPr>
            <a:spLocks noGrp="1"/>
          </p:cNvSpPr>
          <p:nvPr>
            <p:ph type="sldNum" sz="quarter" idx="12"/>
          </p:nvPr>
        </p:nvSpPr>
        <p:spPr>
          <a:xfrm>
            <a:off x="10668000" y="228600"/>
            <a:ext cx="1117600" cy="381000"/>
          </a:xfrm>
        </p:spPr>
        <p:txBody>
          <a:bodyPr/>
          <a:lstStyle>
            <a:lvl1pPr>
              <a:defRPr>
                <a:solidFill>
                  <a:schemeClr val="tx2"/>
                </a:solidFill>
              </a:defRPr>
            </a:lvl1pPr>
          </a:lstStyle>
          <a:p>
            <a:fld id="{5B03D32D-F1BC-4E9C-97E1-36CFF5B22341}" type="slidenum">
              <a:rPr lang="en-US" smtClean="0"/>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16864" y="228600"/>
            <a:ext cx="10871200" cy="990600"/>
          </a:xfrm>
        </p:spPr>
        <p:txBody>
          <a:bodyPr/>
          <a:lstStyle/>
          <a:p>
            <a:r>
              <a:rPr kumimoji="0" lang="en-US"/>
              <a:t>Click to edit Master title style</a:t>
            </a:r>
          </a:p>
        </p:txBody>
      </p:sp>
      <p:sp>
        <p:nvSpPr>
          <p:cNvPr id="4" name="Date Placeholder 3"/>
          <p:cNvSpPr>
            <a:spLocks noGrp="1"/>
          </p:cNvSpPr>
          <p:nvPr>
            <p:ph type="dt" sz="half" idx="10"/>
          </p:nvPr>
        </p:nvSpPr>
        <p:spPr/>
        <p:txBody>
          <a:bodyPr/>
          <a:lstStyle/>
          <a:p>
            <a:fld id="{EED1C14C-A143-42F5-B247-D0E800131009}" type="datetimeFigureOut">
              <a:rPr lang="en-US" smtClean="0"/>
              <a:t>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lvl1pPr>
              <a:defRPr>
                <a:solidFill>
                  <a:srgbClr val="FFFFFF"/>
                </a:solidFill>
              </a:defRPr>
            </a:lvl1pPr>
          </a:lstStyle>
          <a:p>
            <a:fld id="{5B03D32D-F1BC-4E9C-97E1-36CFF5B22341}" type="slidenum">
              <a:rPr lang="en-US" smtClean="0"/>
              <a:t>‹#›</a:t>
            </a:fld>
            <a:endParaRPr lang="en-US"/>
          </a:p>
        </p:txBody>
      </p:sp>
      <p:sp>
        <p:nvSpPr>
          <p:cNvPr id="8" name="Content Placeholder 7"/>
          <p:cNvSpPr>
            <a:spLocks noGrp="1"/>
          </p:cNvSpPr>
          <p:nvPr>
            <p:ph sz="quarter" idx="1"/>
          </p:nvPr>
        </p:nvSpPr>
        <p:spPr>
          <a:xfrm>
            <a:off x="816864" y="1600200"/>
            <a:ext cx="10871200" cy="44958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828801" y="2743200"/>
            <a:ext cx="9497484" cy="1673225"/>
          </a:xfrm>
        </p:spPr>
        <p:txBody>
          <a:bodyPr anchor="t"/>
          <a:lstStyle>
            <a:lvl1pPr marL="0" indent="0">
              <a:buNone/>
              <a:defRPr sz="280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7" name="Rectangle 6"/>
          <p:cNvSpPr/>
          <p:nvPr/>
        </p:nvSpPr>
        <p:spPr bwMode="white">
          <a:xfrm>
            <a:off x="0" y="1524000"/>
            <a:ext cx="12192000" cy="114300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0" y="1600200"/>
            <a:ext cx="1727200" cy="990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1828800" y="1600200"/>
            <a:ext cx="10363200" cy="990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1828800" y="1600200"/>
            <a:ext cx="10160000" cy="990600"/>
          </a:xfrm>
        </p:spPr>
        <p:txBody>
          <a:bodyPr/>
          <a:lstStyle>
            <a:lvl1pPr algn="l">
              <a:buNone/>
              <a:defRPr sz="4400" b="0" cap="none">
                <a:solidFill>
                  <a:srgbClr val="FFFFFF"/>
                </a:solidFill>
              </a:defRPr>
            </a:lvl1pPr>
          </a:lstStyle>
          <a:p>
            <a:r>
              <a:rPr kumimoji="0" lang="en-US"/>
              <a:t>Click to edit Master title style</a:t>
            </a:r>
          </a:p>
        </p:txBody>
      </p:sp>
      <p:sp>
        <p:nvSpPr>
          <p:cNvPr id="12" name="Date Placeholder 11"/>
          <p:cNvSpPr>
            <a:spLocks noGrp="1"/>
          </p:cNvSpPr>
          <p:nvPr>
            <p:ph type="dt" sz="half" idx="10"/>
          </p:nvPr>
        </p:nvSpPr>
        <p:spPr/>
        <p:txBody>
          <a:bodyPr/>
          <a:lstStyle/>
          <a:p>
            <a:fld id="{EED1C14C-A143-42F5-B247-D0E800131009}" type="datetimeFigureOut">
              <a:rPr lang="en-US" smtClean="0"/>
              <a:t>2/8/2026</a:t>
            </a:fld>
            <a:endParaRPr lang="en-US"/>
          </a:p>
        </p:txBody>
      </p:sp>
      <p:sp>
        <p:nvSpPr>
          <p:cNvPr id="13" name="Slide Number Placeholder 12"/>
          <p:cNvSpPr>
            <a:spLocks noGrp="1"/>
          </p:cNvSpPr>
          <p:nvPr>
            <p:ph type="sldNum" sz="quarter" idx="11"/>
          </p:nvPr>
        </p:nvSpPr>
        <p:spPr>
          <a:xfrm>
            <a:off x="0" y="1752600"/>
            <a:ext cx="1727200" cy="701676"/>
          </a:xfrm>
        </p:spPr>
        <p:txBody>
          <a:bodyPr>
            <a:noAutofit/>
          </a:bodyPr>
          <a:lstStyle>
            <a:lvl1pPr>
              <a:defRPr sz="2400">
                <a:solidFill>
                  <a:srgbClr val="FFFFFF"/>
                </a:solidFill>
              </a:defRPr>
            </a:lvl1pPr>
          </a:lstStyle>
          <a:p>
            <a:fld id="{5B03D32D-F1BC-4E9C-97E1-36CFF5B22341}" type="slidenum">
              <a:rPr lang="en-US" smtClean="0"/>
              <a:t>‹#›</a:t>
            </a:fld>
            <a:endParaRPr lang="en-US"/>
          </a:p>
        </p:txBody>
      </p:sp>
      <p:sp>
        <p:nvSpPr>
          <p:cNvPr id="14" name="Footer Placeholder 13"/>
          <p:cNvSpPr>
            <a:spLocks noGrp="1"/>
          </p:cNvSpPr>
          <p:nvPr>
            <p:ph type="ftr" sz="quarter" idx="12"/>
          </p:nvPr>
        </p:nvSpPr>
        <p:spPr/>
        <p:txBody>
          <a:bodyPr/>
          <a:lstStyle/>
          <a:p>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9" name="Content Placeholder 8"/>
          <p:cNvSpPr>
            <a:spLocks noGrp="1"/>
          </p:cNvSpPr>
          <p:nvPr>
            <p:ph sz="quarter" idx="1"/>
          </p:nvPr>
        </p:nvSpPr>
        <p:spPr>
          <a:xfrm>
            <a:off x="812800" y="1589567"/>
            <a:ext cx="5181600" cy="4572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6459868" y="1589567"/>
            <a:ext cx="5181600" cy="4572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8" name="Date Placeholder 7"/>
          <p:cNvSpPr>
            <a:spLocks noGrp="1"/>
          </p:cNvSpPr>
          <p:nvPr>
            <p:ph type="dt" sz="half" idx="15"/>
          </p:nvPr>
        </p:nvSpPr>
        <p:spPr/>
        <p:txBody>
          <a:bodyPr rtlCol="0"/>
          <a:lstStyle/>
          <a:p>
            <a:fld id="{EED1C14C-A143-42F5-B247-D0E800131009}" type="datetimeFigureOut">
              <a:rPr lang="en-US" smtClean="0"/>
              <a:t>2/8/2026</a:t>
            </a:fld>
            <a:endParaRPr lang="en-US"/>
          </a:p>
        </p:txBody>
      </p:sp>
      <p:sp>
        <p:nvSpPr>
          <p:cNvPr id="10" name="Slide Number Placeholder 9"/>
          <p:cNvSpPr>
            <a:spLocks noGrp="1"/>
          </p:cNvSpPr>
          <p:nvPr>
            <p:ph type="sldNum" sz="quarter" idx="16"/>
          </p:nvPr>
        </p:nvSpPr>
        <p:spPr/>
        <p:txBody>
          <a:bodyPr rtlCol="0"/>
          <a:lstStyle/>
          <a:p>
            <a:fld id="{5B03D32D-F1BC-4E9C-97E1-36CFF5B22341}" type="slidenum">
              <a:rPr lang="en-US" smtClean="0"/>
              <a:t>‹#›</a:t>
            </a:fld>
            <a:endParaRPr lang="en-US"/>
          </a:p>
        </p:txBody>
      </p:sp>
      <p:sp>
        <p:nvSpPr>
          <p:cNvPr id="12" name="Footer Placeholder 11"/>
          <p:cNvSpPr>
            <a:spLocks noGrp="1"/>
          </p:cNvSpPr>
          <p:nvPr>
            <p:ph type="ftr" sz="quarter" idx="17"/>
          </p:nvPr>
        </p:nvSpPr>
        <p:spPr/>
        <p:txBody>
          <a:bodyPr rtlCol="0"/>
          <a:lstStyle/>
          <a:p>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711200" y="273050"/>
            <a:ext cx="10871200" cy="869950"/>
          </a:xfrm>
        </p:spPr>
        <p:txBody>
          <a:bodyPr anchor="ctr"/>
          <a:lstStyle>
            <a:lvl1pPr>
              <a:defRPr/>
            </a:lvl1pPr>
          </a:lstStyle>
          <a:p>
            <a:r>
              <a:rPr kumimoji="0" lang="en-US"/>
              <a:t>Click to edit Master title style</a:t>
            </a:r>
          </a:p>
        </p:txBody>
      </p:sp>
      <p:sp>
        <p:nvSpPr>
          <p:cNvPr id="11" name="Content Placeholder 10"/>
          <p:cNvSpPr>
            <a:spLocks noGrp="1"/>
          </p:cNvSpPr>
          <p:nvPr>
            <p:ph sz="quarter" idx="2"/>
          </p:nvPr>
        </p:nvSpPr>
        <p:spPr>
          <a:xfrm>
            <a:off x="812800" y="2438400"/>
            <a:ext cx="5181600" cy="35814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quarter" idx="4"/>
          </p:nvPr>
        </p:nvSpPr>
        <p:spPr>
          <a:xfrm>
            <a:off x="6400800" y="2438400"/>
            <a:ext cx="5181600" cy="35814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0" name="Date Placeholder 9"/>
          <p:cNvSpPr>
            <a:spLocks noGrp="1"/>
          </p:cNvSpPr>
          <p:nvPr>
            <p:ph type="dt" sz="half" idx="15"/>
          </p:nvPr>
        </p:nvSpPr>
        <p:spPr/>
        <p:txBody>
          <a:bodyPr rtlCol="0"/>
          <a:lstStyle/>
          <a:p>
            <a:fld id="{EED1C14C-A143-42F5-B247-D0E800131009}" type="datetimeFigureOut">
              <a:rPr lang="en-US" smtClean="0"/>
              <a:t>2/8/2026</a:t>
            </a:fld>
            <a:endParaRPr lang="en-US"/>
          </a:p>
        </p:txBody>
      </p:sp>
      <p:sp>
        <p:nvSpPr>
          <p:cNvPr id="12" name="Slide Number Placeholder 11"/>
          <p:cNvSpPr>
            <a:spLocks noGrp="1"/>
          </p:cNvSpPr>
          <p:nvPr>
            <p:ph type="sldNum" sz="quarter" idx="16"/>
          </p:nvPr>
        </p:nvSpPr>
        <p:spPr/>
        <p:txBody>
          <a:bodyPr rtlCol="0"/>
          <a:lstStyle/>
          <a:p>
            <a:fld id="{5B03D32D-F1BC-4E9C-97E1-36CFF5B22341}" type="slidenum">
              <a:rPr lang="en-US" smtClean="0"/>
              <a:t>‹#›</a:t>
            </a:fld>
            <a:endParaRPr lang="en-US"/>
          </a:p>
        </p:txBody>
      </p:sp>
      <p:sp>
        <p:nvSpPr>
          <p:cNvPr id="14" name="Footer Placeholder 13"/>
          <p:cNvSpPr>
            <a:spLocks noGrp="1"/>
          </p:cNvSpPr>
          <p:nvPr>
            <p:ph type="ftr" sz="quarter" idx="17"/>
          </p:nvPr>
        </p:nvSpPr>
        <p:spPr/>
        <p:txBody>
          <a:bodyPr rtlCol="0"/>
          <a:lstStyle/>
          <a:p>
            <a:endParaRPr lang="en-US"/>
          </a:p>
        </p:txBody>
      </p:sp>
      <p:sp>
        <p:nvSpPr>
          <p:cNvPr id="16" name="Text Placeholder 15"/>
          <p:cNvSpPr>
            <a:spLocks noGrp="1"/>
          </p:cNvSpPr>
          <p:nvPr>
            <p:ph type="body" sz="quarter" idx="1"/>
          </p:nvPr>
        </p:nvSpPr>
        <p:spPr>
          <a:xfrm>
            <a:off x="812800" y="1752600"/>
            <a:ext cx="5181600" cy="640080"/>
          </a:xfrm>
          <a:solidFill>
            <a:schemeClr val="accent2"/>
          </a:solidFill>
        </p:spPr>
        <p:txBody>
          <a:bodyPr rtlCol="0" anchor="ctr"/>
          <a:lstStyle>
            <a:lvl1pPr marL="0" indent="0">
              <a:buFontTx/>
              <a:buNone/>
              <a:defRPr sz="2000" b="1">
                <a:solidFill>
                  <a:srgbClr val="FFFFFF"/>
                </a:solidFill>
              </a:defRPr>
            </a:lvl1pPr>
          </a:lstStyle>
          <a:p>
            <a:pPr lvl="0" eaLnBrk="1" latinLnBrk="0" hangingPunct="1"/>
            <a:r>
              <a:rPr kumimoji="0" lang="en-US"/>
              <a:t>Click to edit Master text styles</a:t>
            </a:r>
          </a:p>
        </p:txBody>
      </p:sp>
      <p:sp>
        <p:nvSpPr>
          <p:cNvPr id="15" name="Text Placeholder 14"/>
          <p:cNvSpPr>
            <a:spLocks noGrp="1"/>
          </p:cNvSpPr>
          <p:nvPr>
            <p:ph type="body" sz="quarter" idx="3"/>
          </p:nvPr>
        </p:nvSpPr>
        <p:spPr>
          <a:xfrm>
            <a:off x="6400800" y="1752600"/>
            <a:ext cx="5181600" cy="640080"/>
          </a:xfrm>
          <a:solidFill>
            <a:schemeClr val="accent4"/>
          </a:solidFill>
        </p:spPr>
        <p:txBody>
          <a:bodyPr rtlCol="0" anchor="ctr"/>
          <a:lstStyle>
            <a:lvl1pPr marL="0" indent="0">
              <a:buFontTx/>
              <a:buNone/>
              <a:defRPr sz="2000" b="1">
                <a:solidFill>
                  <a:srgbClr val="FFFFFF"/>
                </a:solidFill>
              </a:defRPr>
            </a:lvl1pPr>
          </a:lstStyle>
          <a:p>
            <a:pPr lvl="0" eaLnBrk="1" latinLnBrk="0" hangingPunct="1"/>
            <a:r>
              <a:rPr kumimoji="0" lang="en-US"/>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Date Placeholder 2"/>
          <p:cNvSpPr>
            <a:spLocks noGrp="1"/>
          </p:cNvSpPr>
          <p:nvPr>
            <p:ph type="dt" sz="half" idx="10"/>
          </p:nvPr>
        </p:nvSpPr>
        <p:spPr/>
        <p:txBody>
          <a:bodyPr/>
          <a:lstStyle/>
          <a:p>
            <a:fld id="{EED1C14C-A143-42F5-B247-D0E800131009}" type="datetimeFigureOut">
              <a:rPr lang="en-US" smtClean="0"/>
              <a:t>2/8/2026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lvl1pPr>
              <a:defRPr>
                <a:solidFill>
                  <a:srgbClr val="FFFFFF"/>
                </a:solidFill>
              </a:defRPr>
            </a:lvl1pPr>
          </a:lstStyle>
          <a:p>
            <a:fld id="{5B03D32D-F1BC-4E9C-97E1-36CFF5B22341}"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ED1C14C-A143-42F5-B247-D0E800131009}" type="datetimeFigureOut">
              <a:rPr lang="en-US" smtClean="0"/>
              <a:t>2/8/2026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a:xfrm>
            <a:off x="0" y="6248400"/>
            <a:ext cx="711200" cy="381000"/>
          </a:xfrm>
        </p:spPr>
        <p:txBody>
          <a:bodyPr/>
          <a:lstStyle>
            <a:lvl1pPr>
              <a:defRPr>
                <a:solidFill>
                  <a:schemeClr val="tx2"/>
                </a:solidFill>
              </a:defRPr>
            </a:lvl1pPr>
          </a:lstStyle>
          <a:p>
            <a:fld id="{5B03D32D-F1BC-4E9C-97E1-36CFF5B22341}"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12800" y="273050"/>
            <a:ext cx="10769600" cy="869950"/>
          </a:xfrm>
        </p:spPr>
        <p:txBody>
          <a:bodyPr anchor="ctr"/>
          <a:lstStyle>
            <a:lvl1pPr algn="l">
              <a:buNone/>
              <a:defRPr sz="4400" b="0"/>
            </a:lvl1pPr>
          </a:lstStyle>
          <a:p>
            <a:r>
              <a:rPr kumimoji="0" lang="en-US"/>
              <a:t>Click to edit Master title style</a:t>
            </a:r>
          </a:p>
        </p:txBody>
      </p:sp>
      <p:sp>
        <p:nvSpPr>
          <p:cNvPr id="5" name="Date Placeholder 4"/>
          <p:cNvSpPr>
            <a:spLocks noGrp="1"/>
          </p:cNvSpPr>
          <p:nvPr>
            <p:ph type="dt" sz="half" idx="10"/>
          </p:nvPr>
        </p:nvSpPr>
        <p:spPr/>
        <p:txBody>
          <a:bodyPr/>
          <a:lstStyle/>
          <a:p>
            <a:fld id="{EED1C14C-A143-42F5-B247-D0E800131009}" type="datetimeFigureOut">
              <a:rPr lang="en-US" smtClean="0"/>
              <a:t>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lvl1pPr>
              <a:defRPr>
                <a:solidFill>
                  <a:srgbClr val="FFFFFF"/>
                </a:solidFill>
              </a:defRPr>
            </a:lvl1pPr>
          </a:lstStyle>
          <a:p>
            <a:fld id="{5B03D32D-F1BC-4E9C-97E1-36CFF5B22341}" type="slidenum">
              <a:rPr lang="en-US" smtClean="0"/>
              <a:t>‹#›</a:t>
            </a:fld>
            <a:endParaRPr lang="en-US"/>
          </a:p>
        </p:txBody>
      </p:sp>
      <p:sp>
        <p:nvSpPr>
          <p:cNvPr id="3" name="Text Placeholder 2"/>
          <p:cNvSpPr>
            <a:spLocks noGrp="1"/>
          </p:cNvSpPr>
          <p:nvPr>
            <p:ph type="body" idx="2"/>
          </p:nvPr>
        </p:nvSpPr>
        <p:spPr>
          <a:xfrm>
            <a:off x="812800" y="1752600"/>
            <a:ext cx="2133600" cy="4343400"/>
          </a:xfrm>
          <a:ln w="50800" cap="sq" cmpd="dbl" algn="ctr">
            <a:solidFill>
              <a:schemeClr val="accent2"/>
            </a:solidFill>
            <a:prstDash val="solid"/>
            <a:miter lim="800000"/>
          </a:ln>
          <a:effectLst/>
        </p:spPr>
        <p:style>
          <a:lnRef idx="3">
            <a:schemeClr val="lt1"/>
          </a:lnRef>
          <a:fillRef idx="1">
            <a:schemeClr val="accent2"/>
          </a:fillRef>
          <a:effectRef idx="1">
            <a:schemeClr val="accent2"/>
          </a:effectRef>
          <a:fontRef idx="minor">
            <a:schemeClr val="lt1"/>
          </a:fontRef>
        </p:style>
        <p:txBody>
          <a:bodyPr lIns="137160" tIns="182880" rIns="137160" bIns="91440"/>
          <a:lstStyle>
            <a:lvl1pPr marL="0" indent="0">
              <a:spcAft>
                <a:spcPts val="1000"/>
              </a:spcAft>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9" name="Content Placeholder 8"/>
          <p:cNvSpPr>
            <a:spLocks noGrp="1"/>
          </p:cNvSpPr>
          <p:nvPr>
            <p:ph sz="quarter" idx="1"/>
          </p:nvPr>
        </p:nvSpPr>
        <p:spPr>
          <a:xfrm>
            <a:off x="3149600" y="1752600"/>
            <a:ext cx="8534400" cy="4419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3">
        <a:schemeClr val="bg2"/>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2133600" y="5486400"/>
            <a:ext cx="9753600" cy="685800"/>
          </a:xfrm>
        </p:spPr>
        <p:txBody>
          <a:bodyPr/>
          <a:lstStyle>
            <a:lvl1pPr marL="0" indent="0">
              <a:buFontTx/>
              <a:buNone/>
              <a:defRPr sz="17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a:t>Click to edit Master text styles</a:t>
            </a:r>
          </a:p>
        </p:txBody>
      </p:sp>
      <p:sp>
        <p:nvSpPr>
          <p:cNvPr id="8" name="Rectangle 7"/>
          <p:cNvSpPr/>
          <p:nvPr/>
        </p:nvSpPr>
        <p:spPr bwMode="white">
          <a:xfrm>
            <a:off x="-12192" y="4572000"/>
            <a:ext cx="12192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12192" y="4663440"/>
            <a:ext cx="1950720"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2060448" y="4654296"/>
            <a:ext cx="10131552"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2133600" y="4648200"/>
            <a:ext cx="9753600" cy="685800"/>
          </a:xfrm>
        </p:spPr>
        <p:txBody>
          <a:bodyPr anchor="ctr"/>
          <a:lstStyle>
            <a:lvl1pPr algn="l">
              <a:buNone/>
              <a:defRPr sz="2800" b="0">
                <a:solidFill>
                  <a:srgbClr val="FFFFFF"/>
                </a:solidFill>
              </a:defRPr>
            </a:lvl1pPr>
          </a:lstStyle>
          <a:p>
            <a:r>
              <a:rPr kumimoji="0" lang="en-US"/>
              <a:t>Click to edit Master title style</a:t>
            </a:r>
          </a:p>
        </p:txBody>
      </p:sp>
      <p:sp>
        <p:nvSpPr>
          <p:cNvPr id="11" name="Rectangle 10"/>
          <p:cNvSpPr/>
          <p:nvPr/>
        </p:nvSpPr>
        <p:spPr bwMode="white">
          <a:xfrm>
            <a:off x="1930400" y="0"/>
            <a:ext cx="134112" cy="6867144"/>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Date Placeholder 11"/>
          <p:cNvSpPr>
            <a:spLocks noGrp="1"/>
          </p:cNvSpPr>
          <p:nvPr>
            <p:ph type="dt" sz="half" idx="10"/>
          </p:nvPr>
        </p:nvSpPr>
        <p:spPr>
          <a:xfrm>
            <a:off x="8331200" y="6248401"/>
            <a:ext cx="3556000" cy="365125"/>
          </a:xfrm>
        </p:spPr>
        <p:txBody>
          <a:bodyPr rtlCol="0"/>
          <a:lstStyle/>
          <a:p>
            <a:fld id="{EED1C14C-A143-42F5-B247-D0E800131009}" type="datetimeFigureOut">
              <a:rPr lang="en-US" smtClean="0"/>
              <a:t>2/8/2026</a:t>
            </a:fld>
            <a:endParaRPr lang="en-US"/>
          </a:p>
        </p:txBody>
      </p:sp>
      <p:sp>
        <p:nvSpPr>
          <p:cNvPr id="13" name="Slide Number Placeholder 12"/>
          <p:cNvSpPr>
            <a:spLocks noGrp="1"/>
          </p:cNvSpPr>
          <p:nvPr>
            <p:ph type="sldNum" sz="quarter" idx="11"/>
          </p:nvPr>
        </p:nvSpPr>
        <p:spPr>
          <a:xfrm>
            <a:off x="0" y="4667249"/>
            <a:ext cx="1930400" cy="663578"/>
          </a:xfrm>
        </p:spPr>
        <p:txBody>
          <a:bodyPr rtlCol="0"/>
          <a:lstStyle>
            <a:lvl1pPr>
              <a:defRPr sz="2800"/>
            </a:lvl1pPr>
          </a:lstStyle>
          <a:p>
            <a:fld id="{5B03D32D-F1BC-4E9C-97E1-36CFF5B22341}" type="slidenum">
              <a:rPr lang="en-US" smtClean="0"/>
              <a:t>‹#›</a:t>
            </a:fld>
            <a:endParaRPr lang="en-US"/>
          </a:p>
        </p:txBody>
      </p:sp>
      <p:sp>
        <p:nvSpPr>
          <p:cNvPr id="14" name="Footer Placeholder 13"/>
          <p:cNvSpPr>
            <a:spLocks noGrp="1"/>
          </p:cNvSpPr>
          <p:nvPr>
            <p:ph type="ftr" sz="quarter" idx="12"/>
          </p:nvPr>
        </p:nvSpPr>
        <p:spPr>
          <a:xfrm>
            <a:off x="2133600" y="6248207"/>
            <a:ext cx="6096000" cy="365125"/>
          </a:xfrm>
        </p:spPr>
        <p:txBody>
          <a:bodyPr rtlCol="0"/>
          <a:lstStyle/>
          <a:p>
            <a:endParaRPr lang="en-US"/>
          </a:p>
        </p:txBody>
      </p:sp>
      <p:sp>
        <p:nvSpPr>
          <p:cNvPr id="3" name="Picture Placeholder 2"/>
          <p:cNvSpPr>
            <a:spLocks noGrp="1"/>
          </p:cNvSpPr>
          <p:nvPr>
            <p:ph type="pic" idx="1"/>
          </p:nvPr>
        </p:nvSpPr>
        <p:spPr>
          <a:xfrm>
            <a:off x="2080768" y="0"/>
            <a:ext cx="10111232" cy="4568952"/>
          </a:xfrm>
          <a:solidFill>
            <a:schemeClr val="accent1">
              <a:tint val="40000"/>
            </a:schemeClr>
          </a:solidFill>
          <a:ln>
            <a:noFill/>
          </a:ln>
        </p:spPr>
        <p:txBody>
          <a:bodyPr/>
          <a:lstStyle>
            <a:lvl1pPr marL="0" indent="0">
              <a:buNone/>
              <a:defRPr sz="3200"/>
            </a:lvl1pPr>
          </a:lstStyle>
          <a:p>
            <a:r>
              <a:rPr kumimoji="0" lang="en-US"/>
              <a:t>Click icon to add picture</a:t>
            </a:r>
            <a:endParaRPr kumimoji="0"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EED1C14C-A143-42F5-B247-D0E800131009}" type="datetimeFigureOut">
              <a:rPr lang="en-US" smtClean="0"/>
              <a:t>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B03D32D-F1BC-4E9C-97E1-36CFF5B22341}"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bg>
      <p:bgRef idx="1001">
        <a:schemeClr val="bg1"/>
      </p:bgRef>
    </p:bg>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37600" y="609601"/>
            <a:ext cx="2743200" cy="5516563"/>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609600" y="609600"/>
            <a:ext cx="7416800" cy="5516564"/>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a:xfrm>
            <a:off x="8737600" y="6248403"/>
            <a:ext cx="2946400" cy="365125"/>
          </a:xfrm>
        </p:spPr>
        <p:txBody>
          <a:bodyPr/>
          <a:lstStyle/>
          <a:p>
            <a:fld id="{EED1C14C-A143-42F5-B247-D0E800131009}" type="datetimeFigureOut">
              <a:rPr lang="en-US" smtClean="0"/>
              <a:t>2/8/2026</a:t>
            </a:fld>
            <a:endParaRPr lang="en-US"/>
          </a:p>
        </p:txBody>
      </p:sp>
      <p:sp>
        <p:nvSpPr>
          <p:cNvPr id="5" name="Footer Placeholder 4"/>
          <p:cNvSpPr>
            <a:spLocks noGrp="1"/>
          </p:cNvSpPr>
          <p:nvPr>
            <p:ph type="ftr" sz="quarter" idx="11"/>
          </p:nvPr>
        </p:nvSpPr>
        <p:spPr>
          <a:xfrm>
            <a:off x="609602" y="6248208"/>
            <a:ext cx="7431311" cy="365125"/>
          </a:xfrm>
        </p:spPr>
        <p:txBody>
          <a:bodyPr/>
          <a:lstStyle/>
          <a:p>
            <a:endParaRPr lang="en-US"/>
          </a:p>
        </p:txBody>
      </p:sp>
      <p:sp>
        <p:nvSpPr>
          <p:cNvPr id="7" name="Rectangle 6"/>
          <p:cNvSpPr/>
          <p:nvPr/>
        </p:nvSpPr>
        <p:spPr bwMode="white">
          <a:xfrm>
            <a:off x="8128424" y="0"/>
            <a:ext cx="426720" cy="6858000"/>
          </a:xfrm>
          <a:prstGeom prst="rect">
            <a:avLst/>
          </a:prstGeom>
          <a:solidFill>
            <a:srgbClr val="FFFFFF"/>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8" name="Rectangle 7"/>
          <p:cNvSpPr/>
          <p:nvPr/>
        </p:nvSpPr>
        <p:spPr>
          <a:xfrm>
            <a:off x="8189384" y="609600"/>
            <a:ext cx="304800" cy="6248400"/>
          </a:xfrm>
          <a:prstGeom prst="rect">
            <a:avLst/>
          </a:prstGeom>
          <a:solidFill>
            <a:schemeClr val="accent1"/>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9" name="Rectangle 8"/>
          <p:cNvSpPr/>
          <p:nvPr/>
        </p:nvSpPr>
        <p:spPr>
          <a:xfrm>
            <a:off x="8189384" y="0"/>
            <a:ext cx="304800" cy="533400"/>
          </a:xfrm>
          <a:prstGeom prst="rect">
            <a:avLst/>
          </a:prstGeom>
          <a:solidFill>
            <a:schemeClr val="accent2"/>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6" name="Slide Number Placeholder 5"/>
          <p:cNvSpPr>
            <a:spLocks noGrp="1"/>
          </p:cNvSpPr>
          <p:nvPr>
            <p:ph type="sldNum" sz="quarter" idx="12"/>
          </p:nvPr>
        </p:nvSpPr>
        <p:spPr>
          <a:xfrm rot="5400000">
            <a:off x="8075084" y="103716"/>
            <a:ext cx="533400" cy="325968"/>
          </a:xfrm>
        </p:spPr>
        <p:txBody>
          <a:bodyPr/>
          <a:lstStyle/>
          <a:p>
            <a:fld id="{5B03D32D-F1BC-4E9C-97E1-36CFF5B22341}" type="slidenum">
              <a:rPr lang="en-US" smtClean="0"/>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812800" y="228600"/>
            <a:ext cx="10871200" cy="990600"/>
          </a:xfrm>
          <a:prstGeom prst="rect">
            <a:avLst/>
          </a:prstGeom>
        </p:spPr>
        <p:txBody>
          <a:bodyPr vert="horz" anchor="ctr">
            <a:normAutofit/>
          </a:bodyPr>
          <a:lstStyle/>
          <a:p>
            <a:r>
              <a:rPr kumimoji="0" lang="en-US"/>
              <a:t>Click to edit Master title style</a:t>
            </a:r>
          </a:p>
        </p:txBody>
      </p:sp>
      <p:sp>
        <p:nvSpPr>
          <p:cNvPr id="13" name="Text Placeholder 12"/>
          <p:cNvSpPr>
            <a:spLocks noGrp="1"/>
          </p:cNvSpPr>
          <p:nvPr>
            <p:ph type="body" idx="1"/>
          </p:nvPr>
        </p:nvSpPr>
        <p:spPr>
          <a:xfrm>
            <a:off x="816864" y="1600200"/>
            <a:ext cx="10871200" cy="4526280"/>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8128000" y="6248401"/>
            <a:ext cx="3556000" cy="365125"/>
          </a:xfrm>
          <a:prstGeom prst="rect">
            <a:avLst/>
          </a:prstGeom>
        </p:spPr>
        <p:txBody>
          <a:bodyPr vert="horz" anchor="ctr" anchorCtr="0"/>
          <a:lstStyle>
            <a:lvl1pPr algn="l" eaLnBrk="1" latinLnBrk="0" hangingPunct="1">
              <a:defRPr kumimoji="0" sz="1400">
                <a:solidFill>
                  <a:schemeClr val="tx2"/>
                </a:solidFill>
              </a:defRPr>
            </a:lvl1pPr>
          </a:lstStyle>
          <a:p>
            <a:fld id="{EED1C14C-A143-42F5-B247-D0E800131009}" type="datetimeFigureOut">
              <a:rPr lang="en-US" smtClean="0"/>
              <a:t>2/8/2026</a:t>
            </a:fld>
            <a:endParaRPr lang="en-US"/>
          </a:p>
        </p:txBody>
      </p:sp>
      <p:sp>
        <p:nvSpPr>
          <p:cNvPr id="3" name="Footer Placeholder 2"/>
          <p:cNvSpPr>
            <a:spLocks noGrp="1"/>
          </p:cNvSpPr>
          <p:nvPr>
            <p:ph type="ftr" sz="quarter" idx="3"/>
          </p:nvPr>
        </p:nvSpPr>
        <p:spPr>
          <a:xfrm>
            <a:off x="812801" y="6248207"/>
            <a:ext cx="7228111" cy="365125"/>
          </a:xfrm>
          <a:prstGeom prst="rect">
            <a:avLst/>
          </a:prstGeom>
        </p:spPr>
        <p:txBody>
          <a:bodyPr vert="horz" anchor="ctr"/>
          <a:lstStyle>
            <a:lvl1pPr algn="r" eaLnBrk="1" latinLnBrk="0" hangingPunct="1">
              <a:defRPr kumimoji="0" sz="1400">
                <a:solidFill>
                  <a:schemeClr val="tx2"/>
                </a:solidFill>
              </a:defRPr>
            </a:lvl1pPr>
          </a:lstStyle>
          <a:p>
            <a:endParaRPr lang="en-US"/>
          </a:p>
        </p:txBody>
      </p:sp>
      <p:sp>
        <p:nvSpPr>
          <p:cNvPr id="7" name="Rectangle 6"/>
          <p:cNvSpPr/>
          <p:nvPr/>
        </p:nvSpPr>
        <p:spPr bwMode="white">
          <a:xfrm>
            <a:off x="0" y="1234440"/>
            <a:ext cx="12192000" cy="32004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0" y="1280160"/>
            <a:ext cx="711200" cy="228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787400" y="1280160"/>
            <a:ext cx="11404600" cy="228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3" name="Slide Number Placeholder 22"/>
          <p:cNvSpPr>
            <a:spLocks noGrp="1"/>
          </p:cNvSpPr>
          <p:nvPr>
            <p:ph type="sldNum" sz="quarter" idx="4"/>
          </p:nvPr>
        </p:nvSpPr>
        <p:spPr>
          <a:xfrm>
            <a:off x="0" y="1272222"/>
            <a:ext cx="711200" cy="244476"/>
          </a:xfrm>
          <a:prstGeom prst="rect">
            <a:avLst/>
          </a:prstGeom>
        </p:spPr>
        <p:txBody>
          <a:bodyPr vert="horz" anchor="ctr" anchorCtr="0">
            <a:normAutofit/>
          </a:bodyPr>
          <a:lstStyle>
            <a:lvl1pPr algn="ctr" eaLnBrk="1" latinLnBrk="0" hangingPunct="1">
              <a:defRPr kumimoji="0" sz="1400" b="1">
                <a:solidFill>
                  <a:srgbClr val="FFFFFF"/>
                </a:solidFill>
              </a:defRPr>
            </a:lvl1pPr>
          </a:lstStyle>
          <a:p>
            <a:fld id="{5B03D32D-F1BC-4E9C-97E1-36CFF5B22341}"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rtl="0" eaLnBrk="1" latinLnBrk="0" hangingPunct="1">
        <a:spcBef>
          <a:spcPct val="0"/>
        </a:spcBef>
        <a:buNone/>
        <a:defRPr kumimoji="0" sz="4400" kern="1200">
          <a:solidFill>
            <a:schemeClr val="tx2"/>
          </a:solidFill>
          <a:latin typeface="+mj-lt"/>
          <a:ea typeface="+mj-ea"/>
          <a:cs typeface="+mj-cs"/>
        </a:defRPr>
      </a:lvl1pPr>
    </p:titleStyle>
    <p:bodyStyle>
      <a:lvl1pPr marL="320040" indent="-320040" algn="l" rtl="0" eaLnBrk="1" latinLnBrk="0" hangingPunct="1">
        <a:spcBef>
          <a:spcPts val="700"/>
        </a:spcBef>
        <a:buClr>
          <a:schemeClr val="accent2"/>
        </a:buClr>
        <a:buSzPct val="60000"/>
        <a:buFont typeface="Wingdings"/>
        <a:buChar char=""/>
        <a:defRPr kumimoji="0"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kumimoji="0"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kumimoji="0"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kumimoji="0"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kumimoji="0"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public.tableau.com/views/CredPal_17617698795810/AvgMonthlyIncomeByRegion"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1">
            <a:extLst>
              <a:ext uri="{FF2B5EF4-FFF2-40B4-BE49-F238E27FC236}">
                <a16:creationId xmlns:a16="http://schemas.microsoft.com/office/drawing/2014/main" xmlns="" id="{448BCCD7-77B1-48C3-9728-78BE631E6D3D}"/>
              </a:ext>
            </a:extLst>
          </p:cNvPr>
          <p:cNvSpPr>
            <a:spLocks noGrp="1"/>
          </p:cNvSpPr>
          <p:nvPr>
            <p:ph type="ctrTitle"/>
          </p:nvPr>
        </p:nvSpPr>
        <p:spPr>
          <a:xfrm>
            <a:off x="938254" y="1081377"/>
            <a:ext cx="10275088" cy="3260035"/>
          </a:xfrm>
        </p:spPr>
        <p:txBody>
          <a:bodyPr>
            <a:normAutofit/>
          </a:bodyPr>
          <a:lstStyle/>
          <a:p>
            <a:r>
              <a:rPr lang="en-US" b="1" dirty="0"/>
              <a:t>Unlocking Consumer Patterns: Predictive Analytics for </a:t>
            </a:r>
            <a:r>
              <a:rPr lang="en-US" b="1" dirty="0" err="1"/>
              <a:t>CredPal’s</a:t>
            </a:r>
            <a:r>
              <a:rPr lang="en-US" b="1" dirty="0"/>
              <a:t> Credit Ecosystem</a:t>
            </a:r>
            <a:r>
              <a:rPr lang="en-US" dirty="0"/>
              <a:t/>
            </a:r>
            <a:br>
              <a:rPr lang="en-US" dirty="0"/>
            </a:br>
            <a:endParaRPr lang="en-US" dirty="0">
              <a:hlinkClick r:id="rId2"/>
            </a:endParaRPr>
          </a:p>
        </p:txBody>
      </p:sp>
      <p:sp>
        <p:nvSpPr>
          <p:cNvPr id="3" name="slide1">
            <a:extLst>
              <a:ext uri="{FF2B5EF4-FFF2-40B4-BE49-F238E27FC236}">
                <a16:creationId xmlns:a16="http://schemas.microsoft.com/office/drawing/2014/main" xmlns="" id="{9D83D94B-E93F-4402-A30F-C40C0F0DBD56}"/>
              </a:ext>
            </a:extLst>
          </p:cNvPr>
          <p:cNvSpPr>
            <a:spLocks noGrp="1"/>
          </p:cNvSpPr>
          <p:nvPr>
            <p:ph type="subTitle" idx="1"/>
          </p:nvPr>
        </p:nvSpPr>
        <p:spPr>
          <a:xfrm>
            <a:off x="890546" y="5088835"/>
            <a:ext cx="9819861" cy="874643"/>
          </a:xfrm>
        </p:spPr>
        <p:txBody>
          <a:bodyPr/>
          <a:lstStyle/>
          <a:p>
            <a:r>
              <a:rPr lang="en-US" dirty="0"/>
              <a:t>GROUP TWO WORK</a:t>
            </a:r>
          </a:p>
        </p:txBody>
      </p:sp>
    </p:spTree>
    <p:extLst>
      <p:ext uri="{BB962C8B-B14F-4D97-AF65-F5344CB8AC3E}">
        <p14:creationId xmlns:p14="http://schemas.microsoft.com/office/powerpoint/2010/main" val="959925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tx2">
                    <a:lumMod val="75000"/>
                    <a:lumOff val="25000"/>
                  </a:schemeClr>
                </a:solidFill>
              </a:rPr>
              <a:t>Table of Content</a:t>
            </a:r>
          </a:p>
        </p:txBody>
      </p:sp>
      <p:sp>
        <p:nvSpPr>
          <p:cNvPr id="3" name="Content Placeholder 2"/>
          <p:cNvSpPr>
            <a:spLocks noGrp="1"/>
          </p:cNvSpPr>
          <p:nvPr>
            <p:ph sz="quarter" idx="1"/>
          </p:nvPr>
        </p:nvSpPr>
        <p:spPr>
          <a:xfrm>
            <a:off x="644056" y="1653870"/>
            <a:ext cx="10709744" cy="4746929"/>
          </a:xfrm>
        </p:spPr>
        <p:txBody>
          <a:bodyPr>
            <a:normAutofit fontScale="92500" lnSpcReduction="10000"/>
          </a:bodyPr>
          <a:lstStyle/>
          <a:p>
            <a:r>
              <a:rPr lang="en-US" dirty="0"/>
              <a:t>Average Monthly Income by Region</a:t>
            </a:r>
          </a:p>
          <a:p>
            <a:r>
              <a:rPr lang="en-US" dirty="0"/>
              <a:t>Monthly Expenditure by Region</a:t>
            </a:r>
          </a:p>
          <a:p>
            <a:r>
              <a:rPr lang="en-US" dirty="0"/>
              <a:t>Average Disposable Income /Saving Rates</a:t>
            </a:r>
          </a:p>
          <a:p>
            <a:r>
              <a:rPr lang="en-US" dirty="0"/>
              <a:t>Consumer Preference</a:t>
            </a:r>
          </a:p>
          <a:p>
            <a:r>
              <a:rPr lang="en-US" dirty="0"/>
              <a:t>Consumer Expenditure</a:t>
            </a:r>
          </a:p>
          <a:p>
            <a:r>
              <a:rPr lang="en-US" dirty="0"/>
              <a:t>Relationship Between Income, Expenditure, and Savings</a:t>
            </a:r>
          </a:p>
          <a:p>
            <a:r>
              <a:rPr lang="en-US" dirty="0"/>
              <a:t>Overall Market Interpretation</a:t>
            </a:r>
          </a:p>
          <a:p>
            <a:r>
              <a:rPr lang="en-US" dirty="0"/>
              <a:t>Overall Dashboard</a:t>
            </a:r>
          </a:p>
          <a:p>
            <a:r>
              <a:rPr lang="en-US" dirty="0"/>
              <a:t>Recommendations</a:t>
            </a:r>
          </a:p>
          <a:p>
            <a:r>
              <a:rPr lang="en-US" dirty="0"/>
              <a:t>Conclusion</a:t>
            </a:r>
          </a:p>
          <a:p>
            <a:endParaRPr lang="en-US" dirty="0"/>
          </a:p>
        </p:txBody>
      </p:sp>
    </p:spTree>
    <p:extLst>
      <p:ext uri="{BB962C8B-B14F-4D97-AF65-F5344CB8AC3E}">
        <p14:creationId xmlns:p14="http://schemas.microsoft.com/office/powerpoint/2010/main" val="14623630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b="1" dirty="0">
                <a:solidFill>
                  <a:schemeClr val="tx2">
                    <a:lumMod val="75000"/>
                    <a:lumOff val="25000"/>
                  </a:schemeClr>
                </a:solidFill>
              </a:rPr>
              <a:t>Average Monthly Income by Region</a:t>
            </a:r>
            <a:endParaRPr lang="en-US" dirty="0">
              <a:solidFill>
                <a:schemeClr val="tx2">
                  <a:lumMod val="75000"/>
                  <a:lumOff val="25000"/>
                </a:schemeClr>
              </a:solidFill>
            </a:endParaRPr>
          </a:p>
        </p:txBody>
      </p:sp>
      <p:sp>
        <p:nvSpPr>
          <p:cNvPr id="7" name="Content Placeholder 6"/>
          <p:cNvSpPr>
            <a:spLocks noGrp="1"/>
          </p:cNvSpPr>
          <p:nvPr>
            <p:ph sz="quarter" idx="1"/>
          </p:nvPr>
        </p:nvSpPr>
        <p:spPr>
          <a:xfrm>
            <a:off x="6623437" y="1825624"/>
            <a:ext cx="5510253" cy="4770271"/>
          </a:xfrm>
        </p:spPr>
        <p:txBody>
          <a:bodyPr>
            <a:noAutofit/>
          </a:bodyPr>
          <a:lstStyle/>
          <a:p>
            <a:pPr algn="just"/>
            <a:r>
              <a:rPr lang="en-US" sz="2400" b="1" dirty="0"/>
              <a:t> </a:t>
            </a:r>
            <a:r>
              <a:rPr lang="en-US" sz="2400" dirty="0"/>
              <a:t>The analysis shows that Sub-Saharan Africa ($34.7M) and Europe ($34.3M) record the highest average monthly income among all regions. </a:t>
            </a:r>
          </a:p>
          <a:p>
            <a:pPr algn="just"/>
            <a:r>
              <a:rPr lang="en-US" sz="2400" dirty="0"/>
              <a:t>These regions significantly outperform others such as Asia ($19.4M) and North America ($2.9M).</a:t>
            </a:r>
          </a:p>
          <a:p>
            <a:pPr algn="just"/>
            <a:r>
              <a:rPr lang="en-US" sz="2400" dirty="0"/>
              <a:t>This suggests stronger earning potential and possibly larger active consumer markets within Sub-Saharan Africa and Europe two key zones for </a:t>
            </a:r>
            <a:r>
              <a:rPr lang="en-US" sz="2400" dirty="0" err="1"/>
              <a:t>CredPal’s</a:t>
            </a:r>
            <a:r>
              <a:rPr lang="en-US" sz="2400" dirty="0"/>
              <a:t> credit-driven retail expansion.</a:t>
            </a:r>
          </a:p>
        </p:txBody>
      </p:sp>
      <p:pic>
        <p:nvPicPr>
          <p:cNvPr id="2" name="slide2" descr="Avg Monthly Income By Region">
            <a:extLst>
              <a:ext uri="{FF2B5EF4-FFF2-40B4-BE49-F238E27FC236}">
                <a16:creationId xmlns:a16="http://schemas.microsoft.com/office/drawing/2014/main" xmlns="" id="{23135148-875B-41CC-8A19-F1AE47ABFB5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1563" y="1653872"/>
            <a:ext cx="6551874" cy="4942024"/>
          </a:xfrm>
          <a:prstGeom prst="rect">
            <a:avLst/>
          </a:prstGeom>
        </p:spPr>
      </p:pic>
    </p:spTree>
    <p:extLst>
      <p:ext uri="{BB962C8B-B14F-4D97-AF65-F5344CB8AC3E}">
        <p14:creationId xmlns:p14="http://schemas.microsoft.com/office/powerpoint/2010/main" val="959925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slide3" descr="Monthly Expenditure">
            <a:extLst>
              <a:ext uri="{FF2B5EF4-FFF2-40B4-BE49-F238E27FC236}">
                <a16:creationId xmlns:a16="http://schemas.microsoft.com/office/drawing/2014/main" xmlns="" id="{F3E0451A-ED66-4B14-8FFC-0E429469591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8782" y="1509265"/>
            <a:ext cx="6472362" cy="5110756"/>
          </a:xfrm>
          <a:prstGeom prst="rect">
            <a:avLst/>
          </a:prstGeom>
        </p:spPr>
      </p:pic>
      <p:sp>
        <p:nvSpPr>
          <p:cNvPr id="5" name="Title 4"/>
          <p:cNvSpPr>
            <a:spLocks noGrp="1"/>
          </p:cNvSpPr>
          <p:nvPr>
            <p:ph type="title"/>
          </p:nvPr>
        </p:nvSpPr>
        <p:spPr/>
        <p:txBody>
          <a:bodyPr/>
          <a:lstStyle/>
          <a:p>
            <a:r>
              <a:rPr lang="en-US" b="1" dirty="0">
                <a:solidFill>
                  <a:schemeClr val="tx2">
                    <a:lumMod val="75000"/>
                    <a:lumOff val="25000"/>
                  </a:schemeClr>
                </a:solidFill>
              </a:rPr>
              <a:t>Monthly Expenditure by Region</a:t>
            </a:r>
          </a:p>
        </p:txBody>
      </p:sp>
      <p:sp>
        <p:nvSpPr>
          <p:cNvPr id="6" name="Content Placeholder 5"/>
          <p:cNvSpPr>
            <a:spLocks noGrp="1"/>
          </p:cNvSpPr>
          <p:nvPr>
            <p:ph sz="quarter" idx="1"/>
          </p:nvPr>
        </p:nvSpPr>
        <p:spPr>
          <a:xfrm>
            <a:off x="6679095" y="1825625"/>
            <a:ext cx="5208103" cy="4519516"/>
          </a:xfrm>
        </p:spPr>
        <p:txBody>
          <a:bodyPr>
            <a:normAutofit fontScale="92500"/>
          </a:bodyPr>
          <a:lstStyle/>
          <a:p>
            <a:pPr algn="just"/>
            <a:endParaRPr lang="en-US" sz="2400" dirty="0"/>
          </a:p>
          <a:p>
            <a:pPr algn="just"/>
            <a:r>
              <a:rPr lang="en-US" sz="2400" dirty="0"/>
              <a:t>Sub-Saharan Africa ($24.45M) and Europe ($24.20M) again lead in spending, while North America and Australia record the lowest. </a:t>
            </a:r>
          </a:p>
          <a:p>
            <a:pPr algn="just"/>
            <a:endParaRPr lang="en-US" sz="2400" dirty="0"/>
          </a:p>
          <a:p>
            <a:pPr algn="just"/>
            <a:r>
              <a:rPr lang="en-US" sz="2400" dirty="0"/>
              <a:t>This indicates that higher-income regions also exhibit high spending propensities, which supports the business model of providing on-demand consumer credit as spending activity is strong and credit utilization potential is high</a:t>
            </a:r>
          </a:p>
        </p:txBody>
      </p:sp>
    </p:spTree>
    <p:extLst>
      <p:ext uri="{BB962C8B-B14F-4D97-AF65-F5344CB8AC3E}">
        <p14:creationId xmlns:p14="http://schemas.microsoft.com/office/powerpoint/2010/main" val="959925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slide4" descr="Avg Disposable Income">
            <a:extLst>
              <a:ext uri="{FF2B5EF4-FFF2-40B4-BE49-F238E27FC236}">
                <a16:creationId xmlns:a16="http://schemas.microsoft.com/office/drawing/2014/main" xmlns="" id="{6691EBA9-1B53-45B7-AA73-3E2E52B7E09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10539" y="1550503"/>
            <a:ext cx="7275445" cy="5227313"/>
          </a:xfrm>
          <a:prstGeom prst="rect">
            <a:avLst/>
          </a:prstGeom>
        </p:spPr>
      </p:pic>
      <p:sp>
        <p:nvSpPr>
          <p:cNvPr id="2" name="Title 1"/>
          <p:cNvSpPr>
            <a:spLocks noGrp="1"/>
          </p:cNvSpPr>
          <p:nvPr>
            <p:ph type="title"/>
          </p:nvPr>
        </p:nvSpPr>
        <p:spPr/>
        <p:txBody>
          <a:bodyPr>
            <a:normAutofit/>
          </a:bodyPr>
          <a:lstStyle/>
          <a:p>
            <a:r>
              <a:rPr lang="en-US" b="1" dirty="0">
                <a:solidFill>
                  <a:schemeClr val="tx2">
                    <a:lumMod val="75000"/>
                    <a:lumOff val="25000"/>
                  </a:schemeClr>
                </a:solidFill>
              </a:rPr>
              <a:t>Average Disposable Income/Saving Rates</a:t>
            </a:r>
          </a:p>
        </p:txBody>
      </p:sp>
      <p:sp>
        <p:nvSpPr>
          <p:cNvPr id="3" name="Content Placeholder 2"/>
          <p:cNvSpPr>
            <a:spLocks noGrp="1"/>
          </p:cNvSpPr>
          <p:nvPr>
            <p:ph sz="quarter" idx="1"/>
          </p:nvPr>
        </p:nvSpPr>
        <p:spPr>
          <a:xfrm>
            <a:off x="135172" y="1956020"/>
            <a:ext cx="4675367" cy="4349363"/>
          </a:xfrm>
        </p:spPr>
        <p:txBody>
          <a:bodyPr>
            <a:noAutofit/>
          </a:bodyPr>
          <a:lstStyle/>
          <a:p>
            <a:pPr algn="just"/>
            <a:r>
              <a:rPr lang="en-US" sz="2400" dirty="0"/>
              <a:t>Sub-Saharan Africa ($10.24M) and Europe ($10.13M) record the highest disposable incomes and savings rates of 26.10% and 25.86%, indicating strong earning power and repayment capacity.</a:t>
            </a:r>
          </a:p>
          <a:p>
            <a:pPr marL="0" indent="0" algn="just">
              <a:buNone/>
            </a:pPr>
            <a:r>
              <a:rPr lang="en-US" sz="2400" dirty="0"/>
              <a:t> </a:t>
            </a:r>
          </a:p>
          <a:p>
            <a:pPr algn="just"/>
            <a:r>
              <a:rPr lang="en-US" sz="2400" dirty="0"/>
              <a:t>Asia and MENA follow moderately, showing potential for credit growth but with tighter saving margins.</a:t>
            </a:r>
          </a:p>
          <a:p>
            <a:pPr algn="just"/>
            <a:endParaRPr lang="en-US" sz="2200" dirty="0"/>
          </a:p>
        </p:txBody>
      </p:sp>
    </p:spTree>
    <p:extLst>
      <p:ext uri="{BB962C8B-B14F-4D97-AF65-F5344CB8AC3E}">
        <p14:creationId xmlns:p14="http://schemas.microsoft.com/office/powerpoint/2010/main" val="959925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slide5" descr="Savings Rate">
            <a:extLst>
              <a:ext uri="{FF2B5EF4-FFF2-40B4-BE49-F238E27FC236}">
                <a16:creationId xmlns:a16="http://schemas.microsoft.com/office/drawing/2014/main" xmlns="" id="{819D27B5-4D8A-4DA7-B5A7-FE01930D6E4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23475" y="1645919"/>
            <a:ext cx="7397699" cy="5088836"/>
          </a:xfrm>
          <a:prstGeom prst="rect">
            <a:avLst/>
          </a:prstGeom>
        </p:spPr>
      </p:pic>
      <p:sp>
        <p:nvSpPr>
          <p:cNvPr id="2" name="Title 1"/>
          <p:cNvSpPr>
            <a:spLocks noGrp="1"/>
          </p:cNvSpPr>
          <p:nvPr>
            <p:ph type="title"/>
          </p:nvPr>
        </p:nvSpPr>
        <p:spPr/>
        <p:txBody>
          <a:bodyPr>
            <a:normAutofit/>
          </a:bodyPr>
          <a:lstStyle/>
          <a:p>
            <a:r>
              <a:rPr lang="en-US" b="1" dirty="0">
                <a:solidFill>
                  <a:schemeClr val="tx2">
                    <a:lumMod val="75000"/>
                    <a:lumOff val="25000"/>
                  </a:schemeClr>
                </a:solidFill>
              </a:rPr>
              <a:t>Average Disposable Income /Saving Rates</a:t>
            </a:r>
          </a:p>
        </p:txBody>
      </p:sp>
      <p:sp>
        <p:nvSpPr>
          <p:cNvPr id="3" name="Content Placeholder 2"/>
          <p:cNvSpPr>
            <a:spLocks noGrp="1"/>
          </p:cNvSpPr>
          <p:nvPr>
            <p:ph sz="quarter" idx="1"/>
          </p:nvPr>
        </p:nvSpPr>
        <p:spPr>
          <a:xfrm>
            <a:off x="95417" y="1709530"/>
            <a:ext cx="4611756" cy="4937760"/>
          </a:xfrm>
        </p:spPr>
        <p:txBody>
          <a:bodyPr>
            <a:normAutofit fontScale="92500"/>
          </a:bodyPr>
          <a:lstStyle/>
          <a:p>
            <a:pPr algn="just"/>
            <a:r>
              <a:rPr lang="en-US" dirty="0"/>
              <a:t>North America lags behind with low disposable income of $854K and a 2.17% savings rate, reflecting weaker credit scalability. </a:t>
            </a:r>
          </a:p>
          <a:p>
            <a:pPr algn="just"/>
            <a:r>
              <a:rPr lang="en-US" dirty="0"/>
              <a:t>Overall, the data highlights Sub-Saharan Africa and Europe as </a:t>
            </a:r>
            <a:r>
              <a:rPr lang="en-US" dirty="0" err="1"/>
              <a:t>CredPal’s</a:t>
            </a:r>
            <a:r>
              <a:rPr lang="en-US" dirty="0"/>
              <a:t> strongest markets, balancing high spending potential with solid financial discipline.</a:t>
            </a:r>
          </a:p>
          <a:p>
            <a:pPr algn="just"/>
            <a:endParaRPr lang="en-US" dirty="0"/>
          </a:p>
        </p:txBody>
      </p:sp>
    </p:spTree>
    <p:extLst>
      <p:ext uri="{BB962C8B-B14F-4D97-AF65-F5344CB8AC3E}">
        <p14:creationId xmlns:p14="http://schemas.microsoft.com/office/powerpoint/2010/main" val="959925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tx2">
                    <a:lumMod val="75000"/>
                    <a:lumOff val="25000"/>
                  </a:schemeClr>
                </a:solidFill>
              </a:rPr>
              <a:t>Average Disposable Income/Saving Rates</a:t>
            </a:r>
            <a:endParaRPr lang="en-US" dirty="0">
              <a:solidFill>
                <a:schemeClr val="tx2">
                  <a:lumMod val="75000"/>
                  <a:lumOff val="25000"/>
                </a:schemeClr>
              </a:solidFill>
            </a:endParaRPr>
          </a:p>
        </p:txBody>
      </p:sp>
      <p:sp>
        <p:nvSpPr>
          <p:cNvPr id="3" name="Content Placeholder 2"/>
          <p:cNvSpPr>
            <a:spLocks noGrp="1"/>
          </p:cNvSpPr>
          <p:nvPr>
            <p:ph sz="quarter" idx="1"/>
          </p:nvPr>
        </p:nvSpPr>
        <p:spPr/>
        <p:txBody>
          <a:bodyPr/>
          <a:lstStyle/>
          <a:p>
            <a:pPr algn="just"/>
            <a:r>
              <a:rPr lang="en-US" dirty="0"/>
              <a:t>The analysis validates that consumer credit infrastructure can thrive in regions where disposable income and spending patterns remain strong. </a:t>
            </a:r>
            <a:r>
              <a:rPr lang="en-US" dirty="0" err="1"/>
              <a:t>CredPal’s</a:t>
            </a:r>
            <a:r>
              <a:rPr lang="en-US" dirty="0"/>
              <a:t> impact on increasing merchant sales (up to 23%) could further scale in Sub-Saharan Africa and Europe, where both consumer demand and repayment ability are solid.</a:t>
            </a:r>
          </a:p>
        </p:txBody>
      </p:sp>
    </p:spTree>
    <p:extLst>
      <p:ext uri="{BB962C8B-B14F-4D97-AF65-F5344CB8AC3E}">
        <p14:creationId xmlns:p14="http://schemas.microsoft.com/office/powerpoint/2010/main" val="21175655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slide6" descr="Consumer Preferences">
            <a:extLst>
              <a:ext uri="{FF2B5EF4-FFF2-40B4-BE49-F238E27FC236}">
                <a16:creationId xmlns:a16="http://schemas.microsoft.com/office/drawing/2014/main" xmlns="" id="{EFCF1E42-3E84-4152-B779-5D27000448D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6247" y="3490623"/>
            <a:ext cx="11521439" cy="3244132"/>
          </a:xfrm>
          <a:prstGeom prst="rect">
            <a:avLst/>
          </a:prstGeom>
        </p:spPr>
      </p:pic>
      <p:sp>
        <p:nvSpPr>
          <p:cNvPr id="2" name="Title 1"/>
          <p:cNvSpPr>
            <a:spLocks noGrp="1"/>
          </p:cNvSpPr>
          <p:nvPr>
            <p:ph type="title"/>
          </p:nvPr>
        </p:nvSpPr>
        <p:spPr>
          <a:xfrm>
            <a:off x="789166" y="302150"/>
            <a:ext cx="10515600" cy="771276"/>
          </a:xfrm>
        </p:spPr>
        <p:txBody>
          <a:bodyPr>
            <a:normAutofit/>
          </a:bodyPr>
          <a:lstStyle/>
          <a:p>
            <a:r>
              <a:rPr lang="en-US" b="1" dirty="0">
                <a:solidFill>
                  <a:schemeClr val="tx2">
                    <a:lumMod val="75000"/>
                    <a:lumOff val="25000"/>
                  </a:schemeClr>
                </a:solidFill>
              </a:rPr>
              <a:t>Consumer Preference</a:t>
            </a:r>
          </a:p>
        </p:txBody>
      </p:sp>
      <p:sp>
        <p:nvSpPr>
          <p:cNvPr id="3" name="Content Placeholder 2"/>
          <p:cNvSpPr>
            <a:spLocks noGrp="1"/>
          </p:cNvSpPr>
          <p:nvPr>
            <p:ph sz="quarter" idx="1"/>
          </p:nvPr>
        </p:nvSpPr>
        <p:spPr>
          <a:xfrm>
            <a:off x="184205" y="1590261"/>
            <a:ext cx="11806361" cy="2496709"/>
          </a:xfrm>
        </p:spPr>
        <p:txBody>
          <a:bodyPr>
            <a:noAutofit/>
          </a:bodyPr>
          <a:lstStyle/>
          <a:p>
            <a:pPr algn="just"/>
            <a:r>
              <a:rPr lang="en-US" sz="1800" dirty="0"/>
              <a:t>The analysis reveals that Sub-Saharan Africa and Europe exhibit the highest levels of consumer preference across nearly all product categories, particularly in Clothes, Cosmetics, and Personal Care, each recording counts above 10,700. </a:t>
            </a:r>
          </a:p>
          <a:p>
            <a:pPr algn="just"/>
            <a:r>
              <a:rPr lang="en-US" sz="1800" dirty="0"/>
              <a:t>This indicates a broad and active interest in diverse consumer goods. In contrast, Central America and Australia show the lowest preference levels, averaging around 4,500–4,600, while Asia and the Middle East display moderate engagement. </a:t>
            </a:r>
          </a:p>
          <a:p>
            <a:pPr algn="just"/>
            <a:r>
              <a:rPr lang="en-US" sz="1800" dirty="0"/>
              <a:t>Overall, both developing and developed markets in Africa and Europe maintain stronger consumer enthusiasm, signaling higher product demand and market responsiveness.</a:t>
            </a:r>
          </a:p>
        </p:txBody>
      </p:sp>
    </p:spTree>
    <p:extLst>
      <p:ext uri="{BB962C8B-B14F-4D97-AF65-F5344CB8AC3E}">
        <p14:creationId xmlns:p14="http://schemas.microsoft.com/office/powerpoint/2010/main" val="959925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slide7" descr="Consumer Expenditure">
            <a:extLst>
              <a:ext uri="{FF2B5EF4-FFF2-40B4-BE49-F238E27FC236}">
                <a16:creationId xmlns:a16="http://schemas.microsoft.com/office/drawing/2014/main" xmlns="" id="{E3687790-5895-4371-B20E-70216A426D2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0101" y="3490623"/>
            <a:ext cx="11648662" cy="3167103"/>
          </a:xfrm>
          <a:prstGeom prst="rect">
            <a:avLst/>
          </a:prstGeom>
        </p:spPr>
      </p:pic>
      <p:sp>
        <p:nvSpPr>
          <p:cNvPr id="2" name="Title 1"/>
          <p:cNvSpPr>
            <a:spLocks noGrp="1"/>
          </p:cNvSpPr>
          <p:nvPr>
            <p:ph type="title"/>
          </p:nvPr>
        </p:nvSpPr>
        <p:spPr>
          <a:xfrm>
            <a:off x="838200" y="365126"/>
            <a:ext cx="10515600" cy="811668"/>
          </a:xfrm>
        </p:spPr>
        <p:txBody>
          <a:bodyPr/>
          <a:lstStyle/>
          <a:p>
            <a:r>
              <a:rPr lang="en-US" b="1" dirty="0">
                <a:solidFill>
                  <a:schemeClr val="tx2">
                    <a:lumMod val="75000"/>
                    <a:lumOff val="25000"/>
                  </a:schemeClr>
                </a:solidFill>
              </a:rPr>
              <a:t>Consumer Expenditure</a:t>
            </a:r>
          </a:p>
        </p:txBody>
      </p:sp>
      <p:sp>
        <p:nvSpPr>
          <p:cNvPr id="3" name="Content Placeholder 2"/>
          <p:cNvSpPr>
            <a:spLocks noGrp="1"/>
          </p:cNvSpPr>
          <p:nvPr>
            <p:ph sz="quarter" idx="1"/>
          </p:nvPr>
        </p:nvSpPr>
        <p:spPr>
          <a:xfrm>
            <a:off x="310101" y="1486893"/>
            <a:ext cx="11330609" cy="1868557"/>
          </a:xfrm>
        </p:spPr>
        <p:txBody>
          <a:bodyPr>
            <a:normAutofit fontScale="62500" lnSpcReduction="20000"/>
          </a:bodyPr>
          <a:lstStyle/>
          <a:p>
            <a:pPr algn="just"/>
            <a:r>
              <a:rPr lang="en-US" dirty="0"/>
              <a:t>Spending patterns show that Office Supplies and Household Products account for the highest expenditure across regions, with Sub-Saharan Africa leading at $5.7M and $5.4M respectively.</a:t>
            </a:r>
          </a:p>
          <a:p>
            <a:pPr algn="just"/>
            <a:r>
              <a:rPr lang="en-US" dirty="0"/>
              <a:t> Expenditure gradually decreases across Europe and Asia, while Middle Eastern, Central American, and Australian markets show significantly lower spending.</a:t>
            </a:r>
          </a:p>
          <a:p>
            <a:pPr algn="just"/>
            <a:r>
              <a:rPr lang="en-US" dirty="0"/>
              <a:t>Categories such as Fruits, Beverages, and Personal Care record minimal spending, indicating these are lower-priority or underdeveloped markets. Overall, essential and work-related goods dominate consumer budgets, highlighting the importance of necessity-driven consumption.</a:t>
            </a:r>
          </a:p>
        </p:txBody>
      </p:sp>
    </p:spTree>
    <p:extLst>
      <p:ext uri="{BB962C8B-B14F-4D97-AF65-F5344CB8AC3E}">
        <p14:creationId xmlns:p14="http://schemas.microsoft.com/office/powerpoint/2010/main" val="959925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slide8" descr="Relationship Between Income,Expenditure &amp;amp; Savings">
            <a:extLst>
              <a:ext uri="{FF2B5EF4-FFF2-40B4-BE49-F238E27FC236}">
                <a16:creationId xmlns:a16="http://schemas.microsoft.com/office/drawing/2014/main" xmlns="" id="{6C589F94-44AA-44A1-8B9A-D807465F11E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8730" y="1121134"/>
            <a:ext cx="6525072" cy="5660667"/>
          </a:xfrm>
          <a:prstGeom prst="rect">
            <a:avLst/>
          </a:prstGeom>
        </p:spPr>
      </p:pic>
      <p:sp>
        <p:nvSpPr>
          <p:cNvPr id="2" name="Title 1"/>
          <p:cNvSpPr>
            <a:spLocks noGrp="1"/>
          </p:cNvSpPr>
          <p:nvPr>
            <p:ph type="title"/>
          </p:nvPr>
        </p:nvSpPr>
        <p:spPr>
          <a:xfrm>
            <a:off x="310101" y="206736"/>
            <a:ext cx="11680466" cy="826934"/>
          </a:xfrm>
        </p:spPr>
        <p:txBody>
          <a:bodyPr>
            <a:normAutofit fontScale="90000"/>
          </a:bodyPr>
          <a:lstStyle/>
          <a:p>
            <a:r>
              <a:rPr lang="en-US" b="1" dirty="0">
                <a:solidFill>
                  <a:schemeClr val="tx2">
                    <a:lumMod val="75000"/>
                    <a:lumOff val="25000"/>
                  </a:schemeClr>
                </a:solidFill>
              </a:rPr>
              <a:t>Relationship Between Income, Expenditure, and Savings</a:t>
            </a:r>
            <a:endParaRPr lang="en-US" dirty="0">
              <a:solidFill>
                <a:schemeClr val="tx2">
                  <a:lumMod val="75000"/>
                  <a:lumOff val="25000"/>
                </a:schemeClr>
              </a:solidFill>
            </a:endParaRPr>
          </a:p>
        </p:txBody>
      </p:sp>
      <p:sp>
        <p:nvSpPr>
          <p:cNvPr id="3" name="Content Placeholder 2"/>
          <p:cNvSpPr>
            <a:spLocks noGrp="1"/>
          </p:cNvSpPr>
          <p:nvPr>
            <p:ph sz="quarter" idx="1"/>
          </p:nvPr>
        </p:nvSpPr>
        <p:spPr>
          <a:xfrm>
            <a:off x="6710900" y="1494844"/>
            <a:ext cx="5160397" cy="5152445"/>
          </a:xfrm>
        </p:spPr>
        <p:txBody>
          <a:bodyPr>
            <a:normAutofit fontScale="62500" lnSpcReduction="20000"/>
          </a:bodyPr>
          <a:lstStyle/>
          <a:p>
            <a:pPr algn="just" fontAlgn="base"/>
            <a:r>
              <a:rPr lang="en-US" dirty="0"/>
              <a:t>The chart highlights how income, expenditure, and savings interact across region. A strong positive relationship is evident as income increases, expenditure also rises. However, savings rates differ notably across regions, reflecting varying financial behaviors.​</a:t>
            </a:r>
          </a:p>
          <a:p>
            <a:pPr algn="just" fontAlgn="base"/>
            <a:endParaRPr lang="en-US" dirty="0"/>
          </a:p>
          <a:p>
            <a:pPr algn="just" fontAlgn="base"/>
            <a:r>
              <a:rPr lang="en-US" dirty="0"/>
              <a:t>Regions like Sub-Saharan Africa, Europe and Asia exhibit higher income and spending levels, yet still maintain moderate-to-high savings rates, signaling financial discipline and stability. In contrast, Australia and Oceana North America record lower income and expenditure levels, with smaller savings rates indicating tighter financial margins.​</a:t>
            </a:r>
          </a:p>
          <a:p>
            <a:pPr marL="0" indent="0" algn="just" fontAlgn="base">
              <a:buNone/>
            </a:pPr>
            <a:endParaRPr lang="en-US" dirty="0"/>
          </a:p>
          <a:p>
            <a:pPr algn="just" fontAlgn="base"/>
            <a:r>
              <a:rPr lang="en-US" dirty="0"/>
              <a:t>This trend reinforces that higher income supports both increased consumption and stronger savings capacity, emphasizing the dual role of income growth in enhancing consumer spending power and financial resilience across global regions.</a:t>
            </a:r>
          </a:p>
          <a:p>
            <a:endParaRPr lang="en-US" dirty="0"/>
          </a:p>
        </p:txBody>
      </p:sp>
    </p:spTree>
    <p:extLst>
      <p:ext uri="{BB962C8B-B14F-4D97-AF65-F5344CB8AC3E}">
        <p14:creationId xmlns:p14="http://schemas.microsoft.com/office/powerpoint/2010/main" val="959925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96348" y="151075"/>
            <a:ext cx="10757452" cy="1027377"/>
          </a:xfrm>
        </p:spPr>
        <p:txBody>
          <a:bodyPr>
            <a:normAutofit fontScale="90000"/>
          </a:bodyPr>
          <a:lstStyle/>
          <a:p>
            <a:pPr fontAlgn="base"/>
            <a:r>
              <a:rPr lang="en-US" dirty="0">
                <a:solidFill>
                  <a:schemeClr val="tx2">
                    <a:lumMod val="75000"/>
                    <a:lumOff val="25000"/>
                  </a:schemeClr>
                </a:solidFill>
              </a:rPr>
              <a:t>​</a:t>
            </a:r>
            <a:br>
              <a:rPr lang="en-US" dirty="0">
                <a:solidFill>
                  <a:schemeClr val="tx2">
                    <a:lumMod val="75000"/>
                    <a:lumOff val="25000"/>
                  </a:schemeClr>
                </a:solidFill>
              </a:rPr>
            </a:br>
            <a:r>
              <a:rPr lang="en-US" b="1" dirty="0">
                <a:solidFill>
                  <a:schemeClr val="tx2">
                    <a:lumMod val="75000"/>
                    <a:lumOff val="25000"/>
                  </a:schemeClr>
                </a:solidFill>
              </a:rPr>
              <a:t>Overall Market Interpretation</a:t>
            </a:r>
            <a:r>
              <a:rPr lang="en-US" dirty="0">
                <a:solidFill>
                  <a:schemeClr val="tx2">
                    <a:lumMod val="75000"/>
                    <a:lumOff val="25000"/>
                  </a:schemeClr>
                </a:solidFill>
              </a:rPr>
              <a:t/>
            </a:r>
            <a:br>
              <a:rPr lang="en-US" dirty="0">
                <a:solidFill>
                  <a:schemeClr val="tx2">
                    <a:lumMod val="75000"/>
                    <a:lumOff val="25000"/>
                  </a:schemeClr>
                </a:solidFill>
              </a:rPr>
            </a:br>
            <a:endParaRPr lang="en-US" dirty="0">
              <a:solidFill>
                <a:schemeClr val="tx2">
                  <a:lumMod val="75000"/>
                  <a:lumOff val="25000"/>
                </a:schemeClr>
              </a:solidFill>
            </a:endParaRPr>
          </a:p>
        </p:txBody>
      </p:sp>
      <p:sp>
        <p:nvSpPr>
          <p:cNvPr id="3" name="Content Placeholder 2"/>
          <p:cNvSpPr>
            <a:spLocks noGrp="1"/>
          </p:cNvSpPr>
          <p:nvPr>
            <p:ph sz="quarter" idx="1"/>
          </p:nvPr>
        </p:nvSpPr>
        <p:spPr>
          <a:xfrm>
            <a:off x="5430741" y="1502796"/>
            <a:ext cx="6456459" cy="5172959"/>
          </a:xfrm>
        </p:spPr>
        <p:txBody>
          <a:bodyPr>
            <a:noAutofit/>
          </a:bodyPr>
          <a:lstStyle/>
          <a:p>
            <a:pPr algn="just" fontAlgn="base"/>
            <a:r>
              <a:rPr lang="en-US" sz="2000" dirty="0"/>
              <a:t>Sub-Saharan Africa recorded the highest income ($34.7M), expenditure ($24.5M), and savings rate ($4.48M), indicating strong financial performance.​</a:t>
            </a:r>
          </a:p>
          <a:p>
            <a:pPr algn="just" fontAlgn="base"/>
            <a:r>
              <a:rPr lang="en-US" sz="2000" dirty="0"/>
              <a:t>Europe followed closely with similar spending and saving patterns, while Asia showed moderate figures.​</a:t>
            </a:r>
          </a:p>
          <a:p>
            <a:pPr algn="just" fontAlgn="base"/>
            <a:r>
              <a:rPr lang="en-US" sz="2000" dirty="0"/>
              <a:t>Personal Care emerged as the most preferred consumer category across all regions.​</a:t>
            </a:r>
          </a:p>
          <a:p>
            <a:pPr algn="just" fontAlgn="base"/>
            <a:r>
              <a:rPr lang="en-US" sz="2000" dirty="0"/>
              <a:t>Sub-Saharan Africa and Europe had the highest consumer preference counts for Personal Care products.​</a:t>
            </a:r>
          </a:p>
          <a:p>
            <a:pPr algn="just" fontAlgn="base"/>
            <a:r>
              <a:rPr lang="en-US" sz="2000" dirty="0"/>
              <a:t>Top categories by expenditure include Office Supplies, Meat, and Household Items — reflecting a balance of professional, nutritional, and domestic spending needs.​</a:t>
            </a:r>
          </a:p>
          <a:p>
            <a:pPr algn="just" fontAlgn="base"/>
            <a:r>
              <a:rPr lang="en-US" sz="2000" dirty="0"/>
              <a:t>The data shows a positive correlation between income, expenditure, and savings, with consistent consumer interest in essential personal products.</a:t>
            </a:r>
          </a:p>
          <a:p>
            <a:pPr algn="just"/>
            <a:endParaRPr lang="en-US" sz="2000" dirty="0"/>
          </a:p>
        </p:txBody>
      </p:sp>
      <p:pic>
        <p:nvPicPr>
          <p:cNvPr id="4" name="slide12" descr="Region With The Highest Income ,Expenditure &amp;amp; Customer Preference)">
            <a:extLst>
              <a:ext uri="{FF2B5EF4-FFF2-40B4-BE49-F238E27FC236}">
                <a16:creationId xmlns:a16="http://schemas.microsoft.com/office/drawing/2014/main" xmlns="" id="{87CDD9AC-61C6-46B2-B1C1-EA5BB268163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8339" y="1178451"/>
            <a:ext cx="4384979" cy="1262600"/>
          </a:xfrm>
          <a:prstGeom prst="rect">
            <a:avLst/>
          </a:prstGeom>
        </p:spPr>
      </p:pic>
      <p:pic>
        <p:nvPicPr>
          <p:cNvPr id="5" name="slide9" descr="Region With The Highest Income ,Expenditure &amp;amp; Savings">
            <a:extLst>
              <a:ext uri="{FF2B5EF4-FFF2-40B4-BE49-F238E27FC236}">
                <a16:creationId xmlns:a16="http://schemas.microsoft.com/office/drawing/2014/main" xmlns="" id="{77F82349-C667-4345-9E20-29B03F6207E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2680" y="5499741"/>
            <a:ext cx="4520152" cy="1176015"/>
          </a:xfrm>
          <a:prstGeom prst="rect">
            <a:avLst/>
          </a:prstGeom>
        </p:spPr>
      </p:pic>
      <p:pic>
        <p:nvPicPr>
          <p:cNvPr id="6" name="slide10" descr="Consumer Preference With The Highest Expenditure">
            <a:extLst>
              <a:ext uri="{FF2B5EF4-FFF2-40B4-BE49-F238E27FC236}">
                <a16:creationId xmlns:a16="http://schemas.microsoft.com/office/drawing/2014/main" xmlns="" id="{FDB47377-7B20-4DCC-89A8-A91F86BCEB5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98339" y="4246419"/>
            <a:ext cx="4384979" cy="1136614"/>
          </a:xfrm>
          <a:prstGeom prst="rect">
            <a:avLst/>
          </a:prstGeom>
        </p:spPr>
      </p:pic>
      <p:pic>
        <p:nvPicPr>
          <p:cNvPr id="7" name="slide11" descr="HIghest Consumer Preferences ">
            <a:extLst>
              <a:ext uri="{FF2B5EF4-FFF2-40B4-BE49-F238E27FC236}">
                <a16:creationId xmlns:a16="http://schemas.microsoft.com/office/drawing/2014/main" xmlns="" id="{86C93331-2C08-48F3-8276-25557BB9F92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46626" y="2662476"/>
            <a:ext cx="4336692" cy="1432446"/>
          </a:xfrm>
          <a:prstGeom prst="rect">
            <a:avLst/>
          </a:prstGeom>
        </p:spPr>
      </p:pic>
    </p:spTree>
    <p:extLst>
      <p:ext uri="{BB962C8B-B14F-4D97-AF65-F5344CB8AC3E}">
        <p14:creationId xmlns:p14="http://schemas.microsoft.com/office/powerpoint/2010/main" val="30162573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tx2">
                    <a:lumMod val="75000"/>
                    <a:lumOff val="25000"/>
                  </a:schemeClr>
                </a:solidFill>
              </a:rPr>
              <a:t>Recommendations</a:t>
            </a:r>
          </a:p>
        </p:txBody>
      </p:sp>
      <p:sp>
        <p:nvSpPr>
          <p:cNvPr id="3" name="Content Placeholder 2"/>
          <p:cNvSpPr>
            <a:spLocks noGrp="1"/>
          </p:cNvSpPr>
          <p:nvPr>
            <p:ph sz="quarter" idx="1"/>
          </p:nvPr>
        </p:nvSpPr>
        <p:spPr>
          <a:xfrm>
            <a:off x="492981" y="1600199"/>
            <a:ext cx="11195083" cy="4967577"/>
          </a:xfrm>
        </p:spPr>
        <p:txBody>
          <a:bodyPr>
            <a:normAutofit fontScale="85000" lnSpcReduction="20000"/>
          </a:bodyPr>
          <a:lstStyle/>
          <a:p>
            <a:pPr marL="0" indent="0" algn="just">
              <a:buNone/>
            </a:pPr>
            <a:r>
              <a:rPr lang="en-US" b="1" dirty="0"/>
              <a:t>1. Prioritize Market Expansion in Sub-Saharan Africa and Europe</a:t>
            </a:r>
          </a:p>
          <a:p>
            <a:pPr algn="just"/>
            <a:r>
              <a:rPr lang="en-US" dirty="0"/>
              <a:t>These regions show the </a:t>
            </a:r>
            <a:r>
              <a:rPr lang="en-US" b="1" dirty="0"/>
              <a:t>highest average income, expenditure, and savings rates</a:t>
            </a:r>
            <a:r>
              <a:rPr lang="en-US" dirty="0"/>
              <a:t>, indicating strong consumer purchasing power and repayment capacity.</a:t>
            </a:r>
          </a:p>
          <a:p>
            <a:pPr algn="just"/>
            <a:r>
              <a:rPr lang="en-US" dirty="0"/>
              <a:t>Their </a:t>
            </a:r>
            <a:r>
              <a:rPr lang="en-US" b="1" dirty="0"/>
              <a:t>high consumer preference</a:t>
            </a:r>
            <a:r>
              <a:rPr lang="en-US" dirty="0"/>
              <a:t> across diverse product categories (especially Personal Care, Clothes, and Cosmetics) suggests vibrant retail ecosystems primed for credit utilization.</a:t>
            </a:r>
          </a:p>
          <a:p>
            <a:pPr marL="0" indent="0" algn="just">
              <a:buNone/>
            </a:pPr>
            <a:endParaRPr lang="en-US" dirty="0"/>
          </a:p>
          <a:p>
            <a:pPr algn="just"/>
            <a:endParaRPr lang="en-US" dirty="0"/>
          </a:p>
          <a:p>
            <a:pPr marL="0" indent="0" algn="just">
              <a:buNone/>
            </a:pPr>
            <a:r>
              <a:rPr lang="en-US" b="1" dirty="0"/>
              <a:t>2. Tailor Credit Products to Necessity-Driven Categories</a:t>
            </a:r>
          </a:p>
          <a:p>
            <a:pPr algn="just"/>
            <a:r>
              <a:rPr lang="en-US" dirty="0"/>
              <a:t>Focus credit offerings on </a:t>
            </a:r>
            <a:r>
              <a:rPr lang="en-US" b="1" dirty="0"/>
              <a:t>Office Supplies, Household Products, and Meat</a:t>
            </a:r>
            <a:r>
              <a:rPr lang="en-US" dirty="0"/>
              <a:t>, which dominate expenditure across regions.</a:t>
            </a:r>
          </a:p>
          <a:p>
            <a:pPr algn="just"/>
            <a:r>
              <a:rPr lang="en-US" dirty="0"/>
              <a:t>These categories reflect </a:t>
            </a:r>
            <a:r>
              <a:rPr lang="en-US" b="1" dirty="0"/>
              <a:t>essential and recurring spending</a:t>
            </a:r>
            <a:r>
              <a:rPr lang="en-US" dirty="0"/>
              <a:t>, increasing the likelihood of consistent credit usage and repayment.</a:t>
            </a:r>
          </a:p>
          <a:p>
            <a:pPr algn="just"/>
            <a:endParaRPr lang="en-US" dirty="0"/>
          </a:p>
        </p:txBody>
      </p:sp>
      <p:sp>
        <p:nvSpPr>
          <p:cNvPr id="4" name="Content Placeholder 3"/>
          <p:cNvSpPr>
            <a:spLocks noGrp="1"/>
          </p:cNvSpPr>
          <p:nvPr>
            <p:ph sz="quarter" idx="4294967295"/>
          </p:nvPr>
        </p:nvSpPr>
        <p:spPr>
          <a:xfrm>
            <a:off x="7031038" y="1733550"/>
            <a:ext cx="5160962" cy="4443413"/>
          </a:xfrm>
        </p:spPr>
        <p:txBody>
          <a:bodyPr>
            <a:normAutofit/>
          </a:bodyPr>
          <a:lstStyle/>
          <a:p>
            <a:pPr marL="0" indent="0" algn="just">
              <a:buNone/>
            </a:pPr>
            <a:endParaRPr lang="en-US" dirty="0"/>
          </a:p>
          <a:p>
            <a:pPr algn="just"/>
            <a:endParaRPr lang="en-US" dirty="0"/>
          </a:p>
        </p:txBody>
      </p:sp>
    </p:spTree>
    <p:extLst>
      <p:ext uri="{BB962C8B-B14F-4D97-AF65-F5344CB8AC3E}">
        <p14:creationId xmlns:p14="http://schemas.microsoft.com/office/powerpoint/2010/main" val="4793455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Recommendations</a:t>
            </a:r>
          </a:p>
        </p:txBody>
      </p:sp>
      <p:sp>
        <p:nvSpPr>
          <p:cNvPr id="3" name="Content Placeholder 2"/>
          <p:cNvSpPr>
            <a:spLocks noGrp="1"/>
          </p:cNvSpPr>
          <p:nvPr>
            <p:ph sz="quarter" idx="1"/>
          </p:nvPr>
        </p:nvSpPr>
        <p:spPr>
          <a:xfrm>
            <a:off x="469127" y="1600199"/>
            <a:ext cx="11346511" cy="4888065"/>
          </a:xfrm>
        </p:spPr>
        <p:txBody>
          <a:bodyPr>
            <a:normAutofit fontScale="85000" lnSpcReduction="20000"/>
          </a:bodyPr>
          <a:lstStyle/>
          <a:p>
            <a:pPr marL="0" indent="0">
              <a:buNone/>
            </a:pPr>
            <a:r>
              <a:rPr lang="en-US" b="1" dirty="0"/>
              <a:t>3. Segment Credit Strategies by Financial Behavior</a:t>
            </a:r>
          </a:p>
          <a:p>
            <a:r>
              <a:rPr lang="en-US" b="1" dirty="0"/>
              <a:t>Sub-Saharan Africa &amp; Europe</a:t>
            </a:r>
            <a:r>
              <a:rPr lang="en-US" dirty="0"/>
              <a:t>: Offer </a:t>
            </a:r>
            <a:r>
              <a:rPr lang="en-US" b="1" dirty="0"/>
              <a:t>flexible credit lines</a:t>
            </a:r>
            <a:r>
              <a:rPr lang="en-US" dirty="0"/>
              <a:t> with loyalty incentives, given their strong financial discipline and high savings rates.</a:t>
            </a:r>
          </a:p>
          <a:p>
            <a:r>
              <a:rPr lang="en-US" b="1" dirty="0"/>
              <a:t>Asia &amp; MENA</a:t>
            </a:r>
            <a:r>
              <a:rPr lang="en-US" dirty="0"/>
              <a:t>: Introduce </a:t>
            </a:r>
            <a:r>
              <a:rPr lang="en-US" b="1" dirty="0"/>
              <a:t>moderate credit limits</a:t>
            </a:r>
            <a:r>
              <a:rPr lang="en-US" dirty="0"/>
              <a:t> with educational campaigns to boost financial literacy and savings behavior.</a:t>
            </a:r>
          </a:p>
          <a:p>
            <a:r>
              <a:rPr lang="en-US" b="1" dirty="0"/>
              <a:t>North America &amp; Australia</a:t>
            </a:r>
            <a:r>
              <a:rPr lang="en-US" dirty="0"/>
              <a:t>: Consider </a:t>
            </a:r>
            <a:r>
              <a:rPr lang="en-US" b="1" dirty="0"/>
              <a:t>alternative models</a:t>
            </a:r>
            <a:r>
              <a:rPr lang="en-US" dirty="0"/>
              <a:t> (e.g., BNPL with strict repayment terms) due to low disposable income and savings rates.</a:t>
            </a:r>
          </a:p>
          <a:p>
            <a:endParaRPr lang="en-US" dirty="0"/>
          </a:p>
          <a:p>
            <a:pPr marL="0" indent="0">
              <a:buNone/>
            </a:pPr>
            <a:r>
              <a:rPr lang="en-US" b="1" dirty="0"/>
              <a:t>4. Leverage Consumer Preference Data for Targeted Marketing</a:t>
            </a:r>
          </a:p>
          <a:p>
            <a:r>
              <a:rPr lang="en-US" dirty="0"/>
              <a:t>Use high engagement in </a:t>
            </a:r>
            <a:r>
              <a:rPr lang="en-US" b="1" dirty="0"/>
              <a:t>Clothes, Cosmetics, and Personal Care</a:t>
            </a:r>
            <a:r>
              <a:rPr lang="en-US" dirty="0"/>
              <a:t> to design </a:t>
            </a:r>
            <a:r>
              <a:rPr lang="en-US" b="1" dirty="0"/>
              <a:t>product-specific credit bundles</a:t>
            </a:r>
            <a:r>
              <a:rPr lang="en-US" dirty="0"/>
              <a:t> and promotions.</a:t>
            </a:r>
          </a:p>
          <a:p>
            <a:r>
              <a:rPr lang="en-US" dirty="0"/>
              <a:t>Implement </a:t>
            </a:r>
            <a:r>
              <a:rPr lang="en-US" b="1" dirty="0"/>
              <a:t>region-specific campaigns</a:t>
            </a:r>
            <a:r>
              <a:rPr lang="en-US" dirty="0"/>
              <a:t> that highlight popular categories to drive adoption and retention.</a:t>
            </a:r>
          </a:p>
          <a:p>
            <a:pPr marL="0" indent="0">
              <a:buNone/>
            </a:pPr>
            <a:endParaRPr lang="en-US" dirty="0"/>
          </a:p>
          <a:p>
            <a:pPr marL="0" indent="0">
              <a:buNone/>
            </a:pPr>
            <a:endParaRPr lang="en-US" dirty="0"/>
          </a:p>
          <a:p>
            <a:endParaRPr lang="en-US" dirty="0"/>
          </a:p>
          <a:p>
            <a:pPr marL="0" indent="0">
              <a:buNone/>
            </a:pPr>
            <a:endParaRPr lang="en-US" dirty="0"/>
          </a:p>
        </p:txBody>
      </p:sp>
    </p:spTree>
    <p:extLst>
      <p:ext uri="{BB962C8B-B14F-4D97-AF65-F5344CB8AC3E}">
        <p14:creationId xmlns:p14="http://schemas.microsoft.com/office/powerpoint/2010/main" val="14037151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Recommendations</a:t>
            </a:r>
          </a:p>
        </p:txBody>
      </p:sp>
      <p:sp>
        <p:nvSpPr>
          <p:cNvPr id="3" name="Content Placeholder 2"/>
          <p:cNvSpPr>
            <a:spLocks noGrp="1"/>
          </p:cNvSpPr>
          <p:nvPr>
            <p:ph sz="quarter" idx="1"/>
          </p:nvPr>
        </p:nvSpPr>
        <p:spPr>
          <a:xfrm>
            <a:off x="278295" y="1600199"/>
            <a:ext cx="11648661" cy="5102751"/>
          </a:xfrm>
        </p:spPr>
        <p:txBody>
          <a:bodyPr>
            <a:normAutofit fontScale="92500" lnSpcReduction="10000"/>
          </a:bodyPr>
          <a:lstStyle/>
          <a:p>
            <a:pPr marL="0" indent="0">
              <a:buNone/>
            </a:pPr>
            <a:r>
              <a:rPr lang="en-US" b="1" dirty="0"/>
              <a:t>5. Use Predictive Analytics to Optimize Credit Risk Models</a:t>
            </a:r>
          </a:p>
          <a:p>
            <a:r>
              <a:rPr lang="en-US" dirty="0"/>
              <a:t>Integrate regional income-expenditure-savings correlations into </a:t>
            </a:r>
            <a:r>
              <a:rPr lang="en-US" b="1" dirty="0"/>
              <a:t>risk scoring algorithms</a:t>
            </a:r>
            <a:r>
              <a:rPr lang="en-US" dirty="0"/>
              <a:t>.</a:t>
            </a:r>
          </a:p>
          <a:p>
            <a:r>
              <a:rPr lang="en-US" dirty="0"/>
              <a:t>This will help </a:t>
            </a:r>
            <a:r>
              <a:rPr lang="en-US" b="1" dirty="0"/>
              <a:t>differentiate creditworthiness</a:t>
            </a:r>
            <a:r>
              <a:rPr lang="en-US" dirty="0"/>
              <a:t> across markets and reduce default rates by aligning credit limits with financial behavior.</a:t>
            </a:r>
          </a:p>
          <a:p>
            <a:pPr marL="0" indent="0">
              <a:buNone/>
            </a:pPr>
            <a:endParaRPr lang="en-US" dirty="0"/>
          </a:p>
          <a:p>
            <a:pPr marL="0" indent="0">
              <a:buNone/>
            </a:pPr>
            <a:r>
              <a:rPr lang="en-US" b="1" dirty="0"/>
              <a:t>6. Strengthen Data Partnerships for Continuous Insights</a:t>
            </a:r>
          </a:p>
          <a:p>
            <a:r>
              <a:rPr lang="en-US" dirty="0"/>
              <a:t>Collaborate with merchants and financial institutions in high-performing regions to </a:t>
            </a:r>
            <a:r>
              <a:rPr lang="en-US" b="1" dirty="0"/>
              <a:t>gather real-time consumer data</a:t>
            </a:r>
            <a:r>
              <a:rPr lang="en-US" dirty="0"/>
              <a:t>.</a:t>
            </a:r>
          </a:p>
          <a:p>
            <a:r>
              <a:rPr lang="en-US" dirty="0"/>
              <a:t>This will enhance </a:t>
            </a:r>
            <a:r>
              <a:rPr lang="en-US" b="1" dirty="0"/>
              <a:t>dynamic credit adjustments</a:t>
            </a:r>
            <a:r>
              <a:rPr lang="en-US" dirty="0"/>
              <a:t> and support </a:t>
            </a:r>
            <a:r>
              <a:rPr lang="en-US" b="1" dirty="0"/>
              <a:t>investment decisions</a:t>
            </a:r>
            <a:r>
              <a:rPr lang="en-US" dirty="0"/>
              <a:t> with up-to-date market intelligence.</a:t>
            </a:r>
          </a:p>
          <a:p>
            <a:endParaRPr lang="en-US" dirty="0"/>
          </a:p>
        </p:txBody>
      </p:sp>
    </p:spTree>
    <p:extLst>
      <p:ext uri="{BB962C8B-B14F-4D97-AF65-F5344CB8AC3E}">
        <p14:creationId xmlns:p14="http://schemas.microsoft.com/office/powerpoint/2010/main" val="16840324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tx2">
                    <a:lumMod val="75000"/>
                    <a:lumOff val="25000"/>
                  </a:schemeClr>
                </a:solidFill>
              </a:rPr>
              <a:t>Conclusion</a:t>
            </a:r>
          </a:p>
        </p:txBody>
      </p:sp>
      <p:sp>
        <p:nvSpPr>
          <p:cNvPr id="3" name="Content Placeholder 2"/>
          <p:cNvSpPr>
            <a:spLocks noGrp="1"/>
          </p:cNvSpPr>
          <p:nvPr>
            <p:ph sz="quarter" idx="1"/>
          </p:nvPr>
        </p:nvSpPr>
        <p:spPr/>
        <p:txBody>
          <a:bodyPr/>
          <a:lstStyle/>
          <a:p>
            <a:r>
              <a:rPr lang="en-US" dirty="0"/>
              <a:t>Our analysis demonstrates that </a:t>
            </a:r>
            <a:r>
              <a:rPr lang="en-US" dirty="0" err="1"/>
              <a:t>Credpal's</a:t>
            </a:r>
            <a:r>
              <a:rPr lang="en-US" dirty="0"/>
              <a:t> model has significant room to grow, particularly in Sub Saharan Africa &amp; Europe, where consumer demand, repayment capacity and saving discipline align strongly. </a:t>
            </a:r>
          </a:p>
          <a:p>
            <a:endParaRPr lang="en-US" dirty="0"/>
          </a:p>
          <a:p>
            <a:r>
              <a:rPr lang="en-US" dirty="0"/>
              <a:t>With targeted credit products, data driven risk management and continuous analytics, </a:t>
            </a:r>
            <a:r>
              <a:rPr lang="en-US" dirty="0" err="1"/>
              <a:t>CredPal</a:t>
            </a:r>
            <a:r>
              <a:rPr lang="en-US" dirty="0"/>
              <a:t> can push merchant growth well beyond the current 23% average and unlock new frontiers in consumer credit</a:t>
            </a:r>
          </a:p>
          <a:p>
            <a:endParaRPr lang="en-US" dirty="0"/>
          </a:p>
        </p:txBody>
      </p:sp>
    </p:spTree>
    <p:extLst>
      <p:ext uri="{BB962C8B-B14F-4D97-AF65-F5344CB8AC3E}">
        <p14:creationId xmlns:p14="http://schemas.microsoft.com/office/powerpoint/2010/main" val="123417210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dirty="0"/>
              <a:t>OVERALL DASHBOARD </a:t>
            </a:r>
          </a:p>
        </p:txBody>
      </p:sp>
      <p:sp>
        <p:nvSpPr>
          <p:cNvPr id="3" name="Subtitle 2"/>
          <p:cNvSpPr>
            <a:spLocks noGrp="1"/>
          </p:cNvSpPr>
          <p:nvPr>
            <p:ph type="subTitle" idx="1"/>
          </p:nvPr>
        </p:nvSpPr>
        <p:spPr/>
        <p:txBody>
          <a:bodyPr/>
          <a:lstStyle/>
          <a:p>
            <a:endParaRPr lang="en-US"/>
          </a:p>
        </p:txBody>
      </p:sp>
    </p:spTree>
    <p:extLst>
      <p:ext uri="{BB962C8B-B14F-4D97-AF65-F5344CB8AC3E}">
        <p14:creationId xmlns:p14="http://schemas.microsoft.com/office/powerpoint/2010/main" val="117553613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slide13" descr="Dashboard 1">
            <a:extLst>
              <a:ext uri="{FF2B5EF4-FFF2-40B4-BE49-F238E27FC236}">
                <a16:creationId xmlns:a16="http://schemas.microsoft.com/office/drawing/2014/main" xmlns="" id="{51210BFE-C347-48B4-A3B6-C2D12950498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26432"/>
            <a:ext cx="12192000" cy="5605136"/>
          </a:xfrm>
          <a:prstGeom prst="rect">
            <a:avLst/>
          </a:prstGeom>
        </p:spPr>
      </p:pic>
    </p:spTree>
    <p:extLst>
      <p:ext uri="{BB962C8B-B14F-4D97-AF65-F5344CB8AC3E}">
        <p14:creationId xmlns:p14="http://schemas.microsoft.com/office/powerpoint/2010/main" val="9599258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slide14" descr="Dashboard 2">
            <a:extLst>
              <a:ext uri="{FF2B5EF4-FFF2-40B4-BE49-F238E27FC236}">
                <a16:creationId xmlns:a16="http://schemas.microsoft.com/office/drawing/2014/main" xmlns="" id="{E1B80C67-2355-45C7-9D9B-3327D6D4B78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26432"/>
            <a:ext cx="12192000" cy="5605136"/>
          </a:xfrm>
          <a:prstGeom prst="rect">
            <a:avLst/>
          </a:prstGeom>
        </p:spPr>
      </p:pic>
    </p:spTree>
    <p:extLst>
      <p:ext uri="{BB962C8B-B14F-4D97-AF65-F5344CB8AC3E}">
        <p14:creationId xmlns:p14="http://schemas.microsoft.com/office/powerpoint/2010/main" val="9599258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slide15" descr="Dashboard 3">
            <a:extLst>
              <a:ext uri="{FF2B5EF4-FFF2-40B4-BE49-F238E27FC236}">
                <a16:creationId xmlns:a16="http://schemas.microsoft.com/office/drawing/2014/main" xmlns="" id="{7924CF0C-4286-44D0-BC4A-C0B7366F807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26432"/>
            <a:ext cx="12192000" cy="5605136"/>
          </a:xfrm>
          <a:prstGeom prst="rect">
            <a:avLst/>
          </a:prstGeom>
        </p:spPr>
      </p:pic>
    </p:spTree>
    <p:extLst>
      <p:ext uri="{BB962C8B-B14F-4D97-AF65-F5344CB8AC3E}">
        <p14:creationId xmlns:p14="http://schemas.microsoft.com/office/powerpoint/2010/main" val="9599258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slide16" descr="Dashboard 4">
            <a:extLst>
              <a:ext uri="{FF2B5EF4-FFF2-40B4-BE49-F238E27FC236}">
                <a16:creationId xmlns:a16="http://schemas.microsoft.com/office/drawing/2014/main" xmlns="" id="{5D90C21F-0607-4810-ACC4-308FC9725E3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3172" y="861961"/>
            <a:ext cx="11679687" cy="5369606"/>
          </a:xfrm>
          <a:prstGeom prst="rect">
            <a:avLst/>
          </a:prstGeom>
        </p:spPr>
      </p:pic>
    </p:spTree>
    <p:extLst>
      <p:ext uri="{BB962C8B-B14F-4D97-AF65-F5344CB8AC3E}">
        <p14:creationId xmlns:p14="http://schemas.microsoft.com/office/powerpoint/2010/main" val="95992585"/>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Median">
  <a:themeElements>
    <a:clrScheme name="Couture">
      <a:dk1>
        <a:sysClr val="windowText" lastClr="000000"/>
      </a:dk1>
      <a:lt1>
        <a:sysClr val="window" lastClr="FFFFFF"/>
      </a:lt1>
      <a:dk2>
        <a:srgbClr val="37302A"/>
      </a:dk2>
      <a:lt2>
        <a:srgbClr val="D0CCB9"/>
      </a:lt2>
      <a:accent1>
        <a:srgbClr val="9E8E5C"/>
      </a:accent1>
      <a:accent2>
        <a:srgbClr val="A09781"/>
      </a:accent2>
      <a:accent3>
        <a:srgbClr val="85776D"/>
      </a:accent3>
      <a:accent4>
        <a:srgbClr val="AEAFA9"/>
      </a:accent4>
      <a:accent5>
        <a:srgbClr val="8D878B"/>
      </a:accent5>
      <a:accent6>
        <a:srgbClr val="6B6149"/>
      </a:accent6>
      <a:hlink>
        <a:srgbClr val="B6A272"/>
      </a:hlink>
      <a:folHlink>
        <a:srgbClr val="8A784F"/>
      </a:folHlink>
    </a:clrScheme>
    <a:fontScheme name="Median">
      <a:maj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blipFill>
          <a:blip xmlns:r="http://schemas.openxmlformats.org/officeDocument/2006/relationships" r:embed="rId1">
            <a:duotone>
              <a:schemeClr val="phClr">
                <a:shade val="90000"/>
                <a:satMod val="140000"/>
              </a:schemeClr>
              <a:schemeClr val="phClr">
                <a:satMod val="120000"/>
              </a:schemeClr>
            </a:duotone>
          </a:blip>
          <a:tile tx="0" ty="0" sx="100000" sy="100000" flip="none" algn="tl"/>
        </a:blipFill>
        <a:blipFill>
          <a:blip xmlns:r="http://schemas.openxmlformats.org/officeDocument/2006/relationships" r:embed="rId2">
            <a:duotone>
              <a:schemeClr val="phClr">
                <a:shade val="90000"/>
                <a:satMod val="140000"/>
              </a:schemeClr>
              <a:schemeClr val="phClr">
                <a:satMod val="120000"/>
              </a:schemeClr>
            </a:duotone>
          </a:blip>
          <a:tile tx="0" ty="0" sx="100000" sy="100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168</TotalTime>
  <Words>1168</Words>
  <Application>Microsoft Office PowerPoint</Application>
  <PresentationFormat>Custom</PresentationFormat>
  <Paragraphs>85</Paragraphs>
  <Slides>20</Slides>
  <Notes>0</Notes>
  <HiddenSlides>0</HiddenSlides>
  <MMClips>0</MMClips>
  <ScaleCrop>false</ScaleCrop>
  <HeadingPairs>
    <vt:vector size="4" baseType="variant">
      <vt:variant>
        <vt:lpstr>Theme</vt:lpstr>
      </vt:variant>
      <vt:variant>
        <vt:i4>1</vt:i4>
      </vt:variant>
      <vt:variant>
        <vt:lpstr>Slide Titles</vt:lpstr>
      </vt:variant>
      <vt:variant>
        <vt:i4>20</vt:i4>
      </vt:variant>
    </vt:vector>
  </HeadingPairs>
  <TitlesOfParts>
    <vt:vector size="21" baseType="lpstr">
      <vt:lpstr>Median</vt:lpstr>
      <vt:lpstr>Unlocking Consumer Patterns: Predictive Analytics for CredPal’s Credit Ecosystem </vt:lpstr>
      <vt:lpstr>Table of Content</vt:lpstr>
      <vt:lpstr>Average Monthly Income by Region</vt:lpstr>
      <vt:lpstr>Monthly Expenditure by Region</vt:lpstr>
      <vt:lpstr>Average Disposable Income/Saving Rates</vt:lpstr>
      <vt:lpstr>Average Disposable Income /Saving Rates</vt:lpstr>
      <vt:lpstr>Average Disposable Income/Saving Rates</vt:lpstr>
      <vt:lpstr>Consumer Preference</vt:lpstr>
      <vt:lpstr>Consumer Expenditure</vt:lpstr>
      <vt:lpstr>Relationship Between Income, Expenditure, and Savings</vt:lpstr>
      <vt:lpstr>​ Overall Market Interpretation </vt:lpstr>
      <vt:lpstr>Recommendations</vt:lpstr>
      <vt:lpstr>Recommendations</vt:lpstr>
      <vt:lpstr>Recommendations</vt:lpstr>
      <vt:lpstr>Conclusion</vt:lpstr>
      <vt:lpstr>OVERALL DASHBOARD </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CredPal</dc:title>
  <dc:creator/>
  <cp:lastModifiedBy>VIVOBOOK</cp:lastModifiedBy>
  <cp:revision>20</cp:revision>
  <dcterms:created xsi:type="dcterms:W3CDTF">2025-10-29T20:34:03Z</dcterms:created>
  <dcterms:modified xsi:type="dcterms:W3CDTF">2026-02-08T21:10:01Z</dcterms:modified>
</cp:coreProperties>
</file>